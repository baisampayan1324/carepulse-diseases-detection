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notesMasterIdLst>
    <p:notesMasterId r:id="rId22"/>
  </p:notesMasterIdLst>
  <p:sldIdLst>
    <p:sldId id="286" r:id="rId2"/>
    <p:sldId id="271" r:id="rId3"/>
    <p:sldId id="281" r:id="rId4"/>
    <p:sldId id="280" r:id="rId5"/>
    <p:sldId id="282" r:id="rId6"/>
    <p:sldId id="257" r:id="rId7"/>
    <p:sldId id="270" r:id="rId8"/>
    <p:sldId id="272" r:id="rId9"/>
    <p:sldId id="273" r:id="rId10"/>
    <p:sldId id="274" r:id="rId11"/>
    <p:sldId id="275" r:id="rId12"/>
    <p:sldId id="277" r:id="rId13"/>
    <p:sldId id="283" r:id="rId14"/>
    <p:sldId id="762" r:id="rId15"/>
    <p:sldId id="284" r:id="rId16"/>
    <p:sldId id="285" r:id="rId17"/>
    <p:sldId id="278" r:id="rId18"/>
    <p:sldId id="761" r:id="rId19"/>
    <p:sldId id="279" r:id="rId20"/>
    <p:sldId id="758"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7185"/>
    <a:srgbClr val="B2F2F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187B92-43E2-427A-82F9-290DA3BAE388}" v="33" dt="2025-03-28T08:13:17.7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snapToObjects="1">
      <p:cViewPr varScale="1">
        <p:scale>
          <a:sx n="75" d="100"/>
          <a:sy n="75" d="100"/>
        </p:scale>
        <p:origin x="1618" y="43"/>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535DCD-7436-4380-BBB9-F1D719C067CA}" type="datetimeFigureOut">
              <a:rPr lang="en-IN" smtClean="0"/>
              <a:t>28-03-2025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2DF4BC-F003-4057-A407-D27A0ABC25C2}" type="slidenum">
              <a:rPr lang="en-IN" smtClean="0"/>
              <a:t>‹#›</a:t>
            </a:fld>
            <a:endParaRPr lang="en-IN"/>
          </a:p>
        </p:txBody>
      </p:sp>
    </p:spTree>
    <p:extLst>
      <p:ext uri="{BB962C8B-B14F-4D97-AF65-F5344CB8AC3E}">
        <p14:creationId xmlns:p14="http://schemas.microsoft.com/office/powerpoint/2010/main" val="2799092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F8FA5B34-6ECE-41A9-A19E-6C84FFEFCCAD}" type="datetime1">
              <a:rPr lang="en-US" smtClean="0"/>
              <a:t>3/28/2025</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028128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A44A9F-585A-4FC9-A175-239B4648D7C6}" type="datetime1">
              <a:rPr lang="en-US" smtClean="0"/>
              <a:t>3/28/2025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463670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2D36D6-2BB8-43EA-B968-05F99891AD39}" type="datetime1">
              <a:rPr lang="en-US" smtClean="0"/>
              <a:t>3/28/2025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404920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2CC789-E0D7-49BF-ABB1-A9E8B8D4C51C}" type="datetime1">
              <a:rPr lang="en-US" smtClean="0"/>
              <a:t>3/28/2025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221659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FB59A59-960F-49C3-9E60-75425DA318B2}" type="datetime1">
              <a:rPr lang="en-US" smtClean="0"/>
              <a:t>3/28/2025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010131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6F2D04-355E-4D33-A194-49E35243894D}" type="datetime1">
              <a:rPr lang="en-US" smtClean="0"/>
              <a:t>3/28/2025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030332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E554FB75-A026-4240-B369-CEDE8C7B9FDB}" type="datetime1">
              <a:rPr lang="en-US" smtClean="0"/>
              <a:t>3/28/2025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804410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054B4E-5946-4D51-85FF-BDCB1A83928A}" type="datetime1">
              <a:rPr lang="en-US" smtClean="0"/>
              <a:t>3/28/2025</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248821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C4EEC2-E0EC-41CE-AB32-2D5AD9B7427B}" type="datetime1">
              <a:rPr lang="en-US" smtClean="0"/>
              <a:t>3/28/2025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595247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369C66-D76E-4F2D-8F89-E0DD00A618AD}" type="datetime1">
              <a:rPr lang="en-US" smtClean="0"/>
              <a:t>3/28/2025</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6729327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C369C66-D76E-4F2D-8F89-E0DD00A618AD}" type="datetime1">
              <a:rPr lang="en-US" smtClean="0"/>
              <a:t>3/28/2025</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00410129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C369C66-D76E-4F2D-8F89-E0DD00A618AD}" type="datetime1">
              <a:rPr lang="en-US" smtClean="0"/>
              <a:t>3/28/2025</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71961191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369C66-D76E-4F2D-8F89-E0DD00A618AD}" type="datetime1">
              <a:rPr lang="en-US" smtClean="0"/>
              <a:t>3/28/2025</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4556043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C369C66-D76E-4F2D-8F89-E0DD00A618AD}" type="datetime1">
              <a:rPr lang="en-US" smtClean="0"/>
              <a:t>3/28/2025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3698597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C369C66-D76E-4F2D-8F89-E0DD00A618AD}" type="datetime1">
              <a:rPr lang="en-US" smtClean="0"/>
              <a:t>3/28/2025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41607032"/>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CC8101DB-5446-493D-AE7E-2342CA73E508}" type="datetime1">
              <a:rPr lang="en-US" smtClean="0"/>
              <a:t>3/28/2025</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8787357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E5C451-4C24-4A71-916A-7CF2007E1B27}" type="datetime1">
              <a:rPr lang="en-US" smtClean="0"/>
              <a:t>3/28/2025</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185819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EC369C66-D76E-4F2D-8F89-E0DD00A618AD}" type="datetime1">
              <a:rPr lang="en-US" smtClean="0"/>
              <a:t>3/28/2025</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67160458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hf hdr="0" ftr="0" dt="0"/>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keras.io/"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5000" r="-5000"/>
          </a:stretch>
        </a:blipFill>
        <a:effectLst/>
      </p:bgPr>
    </p:bg>
    <p:spTree>
      <p:nvGrpSpPr>
        <p:cNvPr id="1" name=""/>
        <p:cNvGrpSpPr/>
        <p:nvPr/>
      </p:nvGrpSpPr>
      <p:grpSpPr>
        <a:xfrm>
          <a:off x="0" y="0"/>
          <a:ext cx="0" cy="0"/>
          <a:chOff x="0" y="0"/>
          <a:chExt cx="0" cy="0"/>
        </a:xfrm>
      </p:grpSpPr>
      <p:pic>
        <p:nvPicPr>
          <p:cNvPr id="13" name="Picture 12" hidden="1">
            <a:extLst>
              <a:ext uri="{FF2B5EF4-FFF2-40B4-BE49-F238E27FC236}">
                <a16:creationId xmlns:a16="http://schemas.microsoft.com/office/drawing/2014/main" id="{3949CED4-57C3-36FB-9B5F-09E3DF740E8C}"/>
              </a:ext>
            </a:extLst>
          </p:cNvPr>
          <p:cNvPicPr>
            <a:picLocks noChangeAspect="1"/>
          </p:cNvPicPr>
          <p:nvPr/>
        </p:nvPicPr>
        <p:blipFill>
          <a:blip r:embed="rId3"/>
          <a:stretch>
            <a:fillRect/>
          </a:stretch>
        </p:blipFill>
        <p:spPr>
          <a:xfrm>
            <a:off x="428625" y="1190624"/>
            <a:ext cx="8533054" cy="4609811"/>
          </a:xfrm>
          <a:prstGeom prst="rect">
            <a:avLst/>
          </a:prstGeom>
        </p:spPr>
      </p:pic>
      <p:sp>
        <p:nvSpPr>
          <p:cNvPr id="2" name="Slide Number Placeholder 1">
            <a:extLst>
              <a:ext uri="{FF2B5EF4-FFF2-40B4-BE49-F238E27FC236}">
                <a16:creationId xmlns:a16="http://schemas.microsoft.com/office/drawing/2014/main" id="{66598880-F90C-1A99-F6AC-70EF5D38330F}"/>
              </a:ext>
            </a:extLst>
          </p:cNvPr>
          <p:cNvSpPr>
            <a:spLocks noGrp="1"/>
          </p:cNvSpPr>
          <p:nvPr>
            <p:ph type="sldNum" sz="quarter" idx="12"/>
          </p:nvPr>
        </p:nvSpPr>
        <p:spPr/>
        <p:txBody>
          <a:bodyPr/>
          <a:lstStyle/>
          <a:p>
            <a:fld id="{C1FF6DA9-008F-8B48-92A6-B652298478BF}" type="slidenum">
              <a:rPr lang="en-US" smtClean="0"/>
              <a:t>1</a:t>
            </a:fld>
            <a:endParaRPr lang="en-US"/>
          </a:p>
        </p:txBody>
      </p:sp>
      <p:sp>
        <p:nvSpPr>
          <p:cNvPr id="4" name="TextBox 3">
            <a:extLst>
              <a:ext uri="{FF2B5EF4-FFF2-40B4-BE49-F238E27FC236}">
                <a16:creationId xmlns:a16="http://schemas.microsoft.com/office/drawing/2014/main" id="{3D22E5D8-7352-AB48-45A4-011378674C65}"/>
              </a:ext>
            </a:extLst>
          </p:cNvPr>
          <p:cNvSpPr txBox="1"/>
          <p:nvPr/>
        </p:nvSpPr>
        <p:spPr>
          <a:xfrm>
            <a:off x="0" y="1143672"/>
            <a:ext cx="9144000" cy="3016210"/>
          </a:xfrm>
          <a:prstGeom prst="rect">
            <a:avLst/>
          </a:prstGeom>
          <a:noFill/>
        </p:spPr>
        <p:txBody>
          <a:bodyPr wrap="square">
            <a:spAutoFit/>
          </a:bodyPr>
          <a:lstStyle/>
          <a:p>
            <a:pPr algn="ctr" eaLnBrk="1" hangingPunct="1">
              <a:lnSpc>
                <a:spcPct val="100000"/>
              </a:lnSpc>
              <a:spcBef>
                <a:spcPct val="0"/>
              </a:spcBef>
              <a:buFontTx/>
              <a:buNone/>
            </a:pPr>
            <a:endParaRPr lang="en-US" altLang="en-US" sz="1400" b="1" dirty="0">
              <a:solidFill>
                <a:srgbClr val="C00000"/>
              </a:solidFill>
              <a:latin typeface="Bookman Old Style" panose="02050604050505020204" pitchFamily="18" charset="0"/>
            </a:endParaRPr>
          </a:p>
          <a:p>
            <a:pPr algn="ctr" eaLnBrk="1" hangingPunct="1">
              <a:lnSpc>
                <a:spcPct val="100000"/>
              </a:lnSpc>
              <a:spcBef>
                <a:spcPct val="0"/>
              </a:spcBef>
              <a:buFontTx/>
              <a:buNone/>
            </a:pPr>
            <a:r>
              <a:rPr lang="en-US" altLang="en-US" sz="3200" b="1" dirty="0" err="1">
                <a:latin typeface="Times New Roman" panose="02020603050405020304" pitchFamily="18" charset="0"/>
                <a:cs typeface="Times New Roman" panose="02020603050405020304" pitchFamily="18" charset="0"/>
              </a:rPr>
              <a:t>B.Tech</a:t>
            </a:r>
            <a:r>
              <a:rPr lang="en-US" altLang="en-US" sz="3200" b="1" dirty="0">
                <a:latin typeface="Times New Roman" panose="02020603050405020304" pitchFamily="18" charset="0"/>
                <a:cs typeface="Times New Roman" panose="02020603050405020304" pitchFamily="18" charset="0"/>
              </a:rPr>
              <a:t> 6</a:t>
            </a:r>
            <a:r>
              <a:rPr lang="en-US" altLang="en-US" sz="3200" b="1" baseline="30000" dirty="0">
                <a:latin typeface="Times New Roman" panose="02020603050405020304" pitchFamily="18" charset="0"/>
                <a:cs typeface="Times New Roman" panose="02020603050405020304" pitchFamily="18" charset="0"/>
              </a:rPr>
              <a:t>th</a:t>
            </a:r>
            <a:r>
              <a:rPr lang="en-US" altLang="en-US" sz="3200" b="1" dirty="0">
                <a:latin typeface="Times New Roman" panose="02020603050405020304" pitchFamily="18" charset="0"/>
                <a:cs typeface="Times New Roman" panose="02020603050405020304" pitchFamily="18" charset="0"/>
              </a:rPr>
              <a:t> Semester Minor  project Presentation</a:t>
            </a:r>
          </a:p>
          <a:p>
            <a:pPr algn="ctr" eaLnBrk="1" hangingPunct="1">
              <a:lnSpc>
                <a:spcPct val="100000"/>
              </a:lnSpc>
              <a:spcBef>
                <a:spcPct val="0"/>
              </a:spcBef>
              <a:buFontTx/>
              <a:buNone/>
            </a:pPr>
            <a:r>
              <a:rPr lang="en-US" altLang="en-US" b="1" dirty="0">
                <a:latin typeface="Times New Roman" panose="02020603050405020304" pitchFamily="18" charset="0"/>
                <a:cs typeface="Times New Roman" panose="02020603050405020304" pitchFamily="18" charset="0"/>
              </a:rPr>
              <a:t> </a:t>
            </a:r>
          </a:p>
          <a:p>
            <a:pPr algn="ctr" eaLnBrk="1" hangingPunct="1">
              <a:lnSpc>
                <a:spcPct val="100000"/>
              </a:lnSpc>
              <a:spcBef>
                <a:spcPct val="0"/>
              </a:spcBef>
              <a:buFontTx/>
              <a:buNone/>
            </a:pPr>
            <a:r>
              <a:rPr lang="en-US" altLang="en-US" sz="2800" b="1" dirty="0">
                <a:latin typeface="Times New Roman" panose="02020603050405020304" pitchFamily="18" charset="0"/>
                <a:cs typeface="Times New Roman" panose="02020603050405020304" pitchFamily="18" charset="0"/>
              </a:rPr>
              <a:t>“</a:t>
            </a:r>
            <a:r>
              <a:rPr lang="en-IN" sz="2800" b="1" dirty="0">
                <a:latin typeface="Times New Roman" panose="02020603050405020304" pitchFamily="18" charset="0"/>
                <a:cs typeface="Times New Roman" panose="02020603050405020304" pitchFamily="18" charset="0"/>
              </a:rPr>
              <a:t>CarePulse: Instant Disease Detection</a:t>
            </a:r>
            <a:r>
              <a:rPr lang="en-US" altLang="en-US" sz="2800" b="1" dirty="0">
                <a:latin typeface="Times New Roman" panose="02020603050405020304" pitchFamily="18" charset="0"/>
                <a:cs typeface="Times New Roman" panose="02020603050405020304" pitchFamily="18" charset="0"/>
              </a:rPr>
              <a:t>”</a:t>
            </a:r>
          </a:p>
          <a:p>
            <a:pPr algn="ctr" eaLnBrk="1" hangingPunct="1">
              <a:lnSpc>
                <a:spcPct val="100000"/>
              </a:lnSpc>
              <a:spcBef>
                <a:spcPct val="0"/>
              </a:spcBef>
              <a:buFontTx/>
              <a:buNone/>
            </a:pPr>
            <a:endParaRPr lang="en-US" altLang="en-US" sz="2800" dirty="0">
              <a:solidFill>
                <a:schemeClr val="bg1">
                  <a:lumMod val="95000"/>
                </a:schemeClr>
              </a:solidFill>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400" b="1" dirty="0">
              <a:solidFill>
                <a:srgbClr val="C00000"/>
              </a:solidFill>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1400" b="1" dirty="0">
              <a:solidFill>
                <a:srgbClr val="C00000"/>
              </a:solidFill>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r>
              <a:rPr lang="en-US" altLang="en-US" sz="1400" b="1" dirty="0">
                <a:solidFill>
                  <a:srgbClr val="C00000"/>
                </a:solidFill>
                <a:latin typeface="Times New Roman" panose="02020603050405020304" pitchFamily="18" charset="0"/>
                <a:cs typeface="Times New Roman" panose="02020603050405020304" pitchFamily="18" charset="0"/>
              </a:rPr>
              <a:t>				</a:t>
            </a:r>
          </a:p>
          <a:p>
            <a:pPr algn="ctr" eaLnBrk="1" hangingPunct="1">
              <a:lnSpc>
                <a:spcPct val="100000"/>
              </a:lnSpc>
              <a:spcBef>
                <a:spcPct val="0"/>
              </a:spcBef>
              <a:buFontTx/>
              <a:buNone/>
            </a:pPr>
            <a:br>
              <a:rPr lang="en-US" altLang="en-US" sz="1400" b="1" dirty="0">
                <a:solidFill>
                  <a:srgbClr val="C00000"/>
                </a:solidFill>
                <a:latin typeface="Bookman Old Style" panose="02050604050505020204" pitchFamily="18" charset="0"/>
              </a:rPr>
            </a:br>
            <a:endParaRPr lang="en-IN" altLang="en-US" sz="1400" dirty="0">
              <a:solidFill>
                <a:srgbClr val="C00000"/>
              </a:solidFill>
              <a:latin typeface="Arial" panose="020B0604020202020204" pitchFamily="34" charset="0"/>
            </a:endParaRPr>
          </a:p>
        </p:txBody>
      </p:sp>
      <p:sp>
        <p:nvSpPr>
          <p:cNvPr id="5" name="Google Shape;738;p37">
            <a:extLst>
              <a:ext uri="{FF2B5EF4-FFF2-40B4-BE49-F238E27FC236}">
                <a16:creationId xmlns:a16="http://schemas.microsoft.com/office/drawing/2014/main" id="{C5489D4A-7CBD-BCF1-4CC2-39BC01C76679}"/>
              </a:ext>
            </a:extLst>
          </p:cNvPr>
          <p:cNvSpPr txBox="1">
            <a:spLocks/>
          </p:cNvSpPr>
          <p:nvPr/>
        </p:nvSpPr>
        <p:spPr>
          <a:xfrm>
            <a:off x="387927" y="4462445"/>
            <a:ext cx="5350019" cy="1990725"/>
          </a:xfrm>
          <a:prstGeom prst="rect">
            <a:avLst/>
          </a:prstGeom>
        </p:spPr>
        <p:txBody>
          <a:bodyPr spcFirstLastPara="1" lIns="91425" tIns="91425" rIns="91425" bIns="91425"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spcBef>
                <a:spcPts val="0"/>
              </a:spcBef>
              <a:buNone/>
              <a:defRPr/>
            </a:pPr>
            <a:r>
              <a:rPr lang="en-US" b="1" kern="100" dirty="0">
                <a:solidFill>
                  <a:schemeClr val="bg2">
                    <a:lumMod val="10000"/>
                  </a:schemeClr>
                </a:solidFill>
                <a:latin typeface="Times New Roman"/>
                <a:ea typeface="Calibri"/>
                <a:cs typeface="Mangal"/>
              </a:rPr>
              <a:t>Presented by:</a:t>
            </a:r>
          </a:p>
          <a:p>
            <a:pPr marL="0" indent="0">
              <a:spcBef>
                <a:spcPts val="0"/>
              </a:spcBef>
              <a:buNone/>
              <a:defRPr/>
            </a:pPr>
            <a:r>
              <a:rPr lang="en-US" sz="1600" b="1" kern="100" dirty="0">
                <a:solidFill>
                  <a:schemeClr val="bg2">
                    <a:lumMod val="10000"/>
                  </a:schemeClr>
                </a:solidFill>
                <a:latin typeface="Times New Roman"/>
                <a:ea typeface="Calibri"/>
                <a:cs typeface="Mangal"/>
              </a:rPr>
              <a:t> </a:t>
            </a:r>
            <a:endParaRPr lang="en-US" sz="1500" b="1" kern="100" dirty="0">
              <a:solidFill>
                <a:schemeClr val="bg2">
                  <a:lumMod val="10000"/>
                </a:schemeClr>
              </a:solidFill>
              <a:latin typeface="Times New Roman"/>
              <a:ea typeface="Calibri"/>
              <a:cs typeface="Mangal"/>
            </a:endParaRPr>
          </a:p>
          <a:p>
            <a:pPr marL="0" indent="0">
              <a:spcBef>
                <a:spcPts val="0"/>
              </a:spcBef>
              <a:buNone/>
              <a:defRPr/>
            </a:pPr>
            <a:r>
              <a:rPr lang="en-US" sz="1500" b="1" kern="100" dirty="0">
                <a:solidFill>
                  <a:schemeClr val="bg2">
                    <a:lumMod val="10000"/>
                  </a:schemeClr>
                </a:solidFill>
                <a:latin typeface="Times New Roman"/>
                <a:ea typeface="Calibri"/>
                <a:cs typeface="Mangal"/>
              </a:rPr>
              <a:t>1. </a:t>
            </a:r>
            <a:r>
              <a:rPr lang="en-US" sz="1500" b="1" kern="100" dirty="0">
                <a:solidFill>
                  <a:schemeClr val="bg2">
                    <a:lumMod val="10000"/>
                  </a:schemeClr>
                </a:solidFill>
                <a:latin typeface="Times New Roman" panose="02020603050405020304" pitchFamily="18" charset="0"/>
                <a:ea typeface="Calibri"/>
                <a:cs typeface="Times New Roman" panose="02020603050405020304" pitchFamily="18" charset="0"/>
              </a:rPr>
              <a:t>Pandey Sanjit Vinod            2303051057094</a:t>
            </a:r>
            <a:br>
              <a:rPr lang="en-US" sz="1500" b="1" kern="100" dirty="0">
                <a:solidFill>
                  <a:schemeClr val="bg2">
                    <a:lumMod val="10000"/>
                  </a:schemeClr>
                </a:solidFill>
                <a:latin typeface="Times New Roman" panose="02020603050405020304" pitchFamily="18" charset="0"/>
                <a:ea typeface="Calibri" panose="020F0502020204030204" pitchFamily="34" charset="0"/>
                <a:cs typeface="Times New Roman" panose="02020603050405020304" pitchFamily="18" charset="0"/>
              </a:rPr>
            </a:br>
            <a:r>
              <a:rPr lang="en-US" sz="1500" b="1" kern="100" dirty="0">
                <a:solidFill>
                  <a:schemeClr val="bg2">
                    <a:lumMod val="10000"/>
                  </a:schemeClr>
                </a:solidFill>
                <a:latin typeface="Times New Roman" panose="02020603050405020304" pitchFamily="18" charset="0"/>
                <a:ea typeface="Calibri"/>
                <a:cs typeface="Times New Roman" panose="02020603050405020304" pitchFamily="18" charset="0"/>
              </a:rPr>
              <a:t>2. Dhruv </a:t>
            </a:r>
            <a:r>
              <a:rPr lang="en-US" sz="1500" b="1" kern="100" dirty="0" err="1">
                <a:solidFill>
                  <a:schemeClr val="bg2">
                    <a:lumMod val="10000"/>
                  </a:schemeClr>
                </a:solidFill>
                <a:latin typeface="Times New Roman" panose="02020603050405020304" pitchFamily="18" charset="0"/>
                <a:ea typeface="Calibri"/>
                <a:cs typeface="Times New Roman" panose="02020603050405020304" pitchFamily="18" charset="0"/>
              </a:rPr>
              <a:t>Motaval</a:t>
            </a:r>
            <a:r>
              <a:rPr lang="en-US" sz="1500" b="1" kern="100" dirty="0">
                <a:solidFill>
                  <a:schemeClr val="bg2">
                    <a:lumMod val="10000"/>
                  </a:schemeClr>
                </a:solidFill>
                <a:latin typeface="Times New Roman" panose="02020603050405020304" pitchFamily="18" charset="0"/>
                <a:ea typeface="Calibri"/>
                <a:cs typeface="Times New Roman" panose="02020603050405020304" pitchFamily="18" charset="0"/>
              </a:rPr>
              <a:t>                	  2303051247009</a:t>
            </a:r>
            <a:br>
              <a:rPr lang="en-US" sz="1500" b="1" kern="100" dirty="0">
                <a:solidFill>
                  <a:schemeClr val="bg2">
                    <a:lumMod val="10000"/>
                  </a:schemeClr>
                </a:solidFill>
                <a:latin typeface="Times New Roman" panose="02020603050405020304" pitchFamily="18" charset="0"/>
                <a:ea typeface="Calibri" panose="020F0502020204030204" pitchFamily="34" charset="0"/>
                <a:cs typeface="Times New Roman" panose="02020603050405020304" pitchFamily="18" charset="0"/>
              </a:rPr>
            </a:br>
            <a:r>
              <a:rPr lang="en-US" sz="1500" b="1" kern="100" dirty="0">
                <a:solidFill>
                  <a:schemeClr val="bg2">
                    <a:lumMod val="10000"/>
                  </a:schemeClr>
                </a:solidFill>
                <a:latin typeface="Times New Roman" panose="02020603050405020304" pitchFamily="18" charset="0"/>
                <a:ea typeface="Calibri"/>
                <a:cs typeface="Times New Roman" panose="02020603050405020304" pitchFamily="18" charset="0"/>
              </a:rPr>
              <a:t>3. Baisampayan Dey               2303051247023</a:t>
            </a:r>
            <a:br>
              <a:rPr lang="en-US" sz="1500" b="1" kern="100" dirty="0">
                <a:solidFill>
                  <a:schemeClr val="bg2">
                    <a:lumMod val="10000"/>
                  </a:schemeClr>
                </a:solidFill>
                <a:latin typeface="Times New Roman" panose="02020603050405020304" pitchFamily="18" charset="0"/>
                <a:ea typeface="Calibri" panose="020F0502020204030204" pitchFamily="34" charset="0"/>
                <a:cs typeface="Times New Roman" panose="02020603050405020304" pitchFamily="18" charset="0"/>
              </a:rPr>
            </a:br>
            <a:r>
              <a:rPr lang="en-US" sz="1500" b="1" kern="100" dirty="0">
                <a:solidFill>
                  <a:schemeClr val="bg2">
                    <a:lumMod val="10000"/>
                  </a:schemeClr>
                </a:solidFill>
                <a:latin typeface="Times New Roman" panose="02020603050405020304" pitchFamily="18" charset="0"/>
                <a:ea typeface="Calibri"/>
                <a:cs typeface="Times New Roman" panose="02020603050405020304" pitchFamily="18" charset="0"/>
              </a:rPr>
              <a:t>4. Aryan Patil                          2303051247002</a:t>
            </a:r>
            <a:br>
              <a:rPr lang="en-US" b="1" kern="100" dirty="0">
                <a:solidFill>
                  <a:schemeClr val="bg2">
                    <a:lumMod val="10000"/>
                  </a:schemeClr>
                </a:solidFill>
                <a:latin typeface="Times New Roman" panose="02020603050405020304" pitchFamily="18" charset="0"/>
                <a:ea typeface="Calibri" panose="020F0502020204030204" pitchFamily="34" charset="0"/>
                <a:cs typeface="Times New Roman" panose="02020603050405020304" pitchFamily="18" charset="0"/>
              </a:rPr>
            </a:b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6" name="Text Box 13">
            <a:extLst>
              <a:ext uri="{FF2B5EF4-FFF2-40B4-BE49-F238E27FC236}">
                <a16:creationId xmlns:a16="http://schemas.microsoft.com/office/drawing/2014/main" id="{18FA616C-9478-B476-26D6-E9404AB94702}"/>
              </a:ext>
            </a:extLst>
          </p:cNvPr>
          <p:cNvSpPr txBox="1">
            <a:spLocks noChangeArrowheads="1"/>
          </p:cNvSpPr>
          <p:nvPr/>
        </p:nvSpPr>
        <p:spPr bwMode="auto">
          <a:xfrm>
            <a:off x="662998"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sp>
        <p:nvSpPr>
          <p:cNvPr id="7" name="TextBox 11">
            <a:extLst>
              <a:ext uri="{FF2B5EF4-FFF2-40B4-BE49-F238E27FC236}">
                <a16:creationId xmlns:a16="http://schemas.microsoft.com/office/drawing/2014/main" id="{1A68F4FA-2736-3A31-C8B3-DB68DBF3FD8E}"/>
              </a:ext>
            </a:extLst>
          </p:cNvPr>
          <p:cNvSpPr txBox="1">
            <a:spLocks noChangeArrowheads="1"/>
          </p:cNvSpPr>
          <p:nvPr/>
        </p:nvSpPr>
        <p:spPr bwMode="auto">
          <a:xfrm>
            <a:off x="5941868" y="4391425"/>
            <a:ext cx="286385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2400" b="1" i="1" dirty="0">
              <a:solidFill>
                <a:srgbClr val="C00000"/>
              </a:solidFill>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r>
              <a:rPr lang="en-US" altLang="en-US" sz="1800" b="1" i="1" dirty="0">
                <a:latin typeface="Times New Roman" panose="02020603050405020304" pitchFamily="18" charset="0"/>
                <a:cs typeface="Times New Roman" panose="02020603050405020304" pitchFamily="18" charset="0"/>
              </a:rPr>
              <a:t>Supervisors:</a:t>
            </a:r>
          </a:p>
          <a:p>
            <a:pPr eaLnBrk="1" hangingPunct="1">
              <a:lnSpc>
                <a:spcPct val="100000"/>
              </a:lnSpc>
              <a:spcBef>
                <a:spcPct val="0"/>
              </a:spcBef>
              <a:buFontTx/>
              <a:buNone/>
            </a:pPr>
            <a:r>
              <a:rPr lang="en-US" altLang="en-US" sz="1800" b="1" i="1" dirty="0">
                <a:latin typeface="Times New Roman" panose="02020603050405020304" pitchFamily="18" charset="0"/>
                <a:cs typeface="Times New Roman" panose="02020603050405020304" pitchFamily="18" charset="0"/>
              </a:rPr>
              <a:t> </a:t>
            </a:r>
            <a:r>
              <a:rPr lang="en-US" altLang="en-US" sz="1800" b="1" i="1" dirty="0">
                <a:solidFill>
                  <a:srgbClr val="FF0000"/>
                </a:solidFill>
                <a:latin typeface="Times New Roman" panose="02020603050405020304" pitchFamily="18" charset="0"/>
                <a:cs typeface="Times New Roman" panose="02020603050405020304" pitchFamily="18" charset="0"/>
              </a:rPr>
              <a:t>Mrs. Arpita Meet Vaidya  </a:t>
            </a:r>
          </a:p>
          <a:p>
            <a:pPr eaLnBrk="1" hangingPunct="1">
              <a:lnSpc>
                <a:spcPct val="100000"/>
              </a:lnSpc>
              <a:spcBef>
                <a:spcPct val="0"/>
              </a:spcBef>
              <a:buFontTx/>
              <a:buNone/>
            </a:pPr>
            <a:endParaRPr lang="en-US" altLang="en-US" sz="1800" b="1"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54C5BD8-CC99-2C38-1795-C138E88BF51D}"/>
              </a:ext>
            </a:extLst>
          </p:cNvPr>
          <p:cNvCxnSpPr/>
          <p:nvPr/>
        </p:nvCxnSpPr>
        <p:spPr>
          <a:xfrm>
            <a:off x="0" y="1011272"/>
            <a:ext cx="9144000" cy="1587"/>
          </a:xfrm>
          <a:prstGeom prst="line">
            <a:avLst/>
          </a:prstGeom>
        </p:spPr>
        <p:style>
          <a:lnRef idx="2">
            <a:schemeClr val="dk1"/>
          </a:lnRef>
          <a:fillRef idx="0">
            <a:schemeClr val="dk1"/>
          </a:fillRef>
          <a:effectRef idx="1">
            <a:schemeClr val="dk1"/>
          </a:effectRef>
          <a:fontRef idx="minor">
            <a:schemeClr val="tx1"/>
          </a:fontRef>
        </p:style>
      </p:cxnSp>
      <p:pic>
        <p:nvPicPr>
          <p:cNvPr id="9" name="image2.png">
            <a:extLst>
              <a:ext uri="{FF2B5EF4-FFF2-40B4-BE49-F238E27FC236}">
                <a16:creationId xmlns:a16="http://schemas.microsoft.com/office/drawing/2014/main" id="{AE4B85DC-0718-C12D-0829-058D9049C7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337" y="263159"/>
            <a:ext cx="1173163"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99E1292E-684C-78A1-A43E-D35137FE238E}"/>
              </a:ext>
            </a:extLst>
          </p:cNvPr>
          <p:cNvSpPr txBox="1"/>
          <p:nvPr/>
        </p:nvSpPr>
        <p:spPr>
          <a:xfrm>
            <a:off x="1199993" y="191071"/>
            <a:ext cx="5060950" cy="815608"/>
          </a:xfrm>
          <a:prstGeom prst="rect">
            <a:avLst/>
          </a:prstGeom>
          <a:noFill/>
        </p:spPr>
        <p:txBody>
          <a:bodyPr>
            <a:spAutoFit/>
          </a:bodyPr>
          <a:lstStyle/>
          <a:p>
            <a:pPr eaLnBrk="1" fontAlgn="auto" hangingPunct="1">
              <a:spcBef>
                <a:spcPts val="0"/>
              </a:spcBef>
              <a:spcAft>
                <a:spcPts val="0"/>
              </a:spcAft>
              <a:defRPr/>
            </a:pPr>
            <a:r>
              <a:rPr lang="en-US" sz="32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3600" b="1" dirty="0">
                <a:solidFill>
                  <a:schemeClr val="tx1">
                    <a:lumMod val="95000"/>
                    <a:lumOff val="5000"/>
                  </a:schemeClr>
                </a:solidFill>
                <a:latin typeface="Times New Roman" panose="02020603050405020304" pitchFamily="18" charset="0"/>
                <a:cs typeface="Times New Roman" panose="02020603050405020304" pitchFamily="18" charset="0"/>
              </a:rPr>
              <a:t>Parul University</a:t>
            </a:r>
          </a:p>
          <a:p>
            <a:pPr eaLnBrk="1" fontAlgn="auto" hangingPunct="1">
              <a:spcBef>
                <a:spcPts val="0"/>
              </a:spcBef>
              <a:spcAft>
                <a:spcPts val="0"/>
              </a:spcAft>
              <a:defRPr/>
            </a:pPr>
            <a:r>
              <a:rPr lang="en-US" sz="1000" b="1" dirty="0">
                <a:solidFill>
                  <a:schemeClr val="tx1">
                    <a:lumMod val="95000"/>
                    <a:lumOff val="5000"/>
                  </a:schemeClr>
                </a:solidFill>
                <a:latin typeface="+mn-lt"/>
              </a:rPr>
              <a:t>                     </a:t>
            </a:r>
            <a:r>
              <a:rPr lang="en-US" sz="1100" b="1" dirty="0">
                <a:solidFill>
                  <a:schemeClr val="tx1">
                    <a:lumMod val="95000"/>
                    <a:lumOff val="5000"/>
                  </a:schemeClr>
                </a:solidFill>
                <a:latin typeface="+mn-lt"/>
                <a:cs typeface="Times New Roman" panose="02020603050405020304" pitchFamily="18" charset="0"/>
              </a:rPr>
              <a:t>Institute of Engineering &amp; Technology </a:t>
            </a:r>
            <a:endParaRPr lang="en-IN" sz="1000" b="1" dirty="0">
              <a:solidFill>
                <a:schemeClr val="tx1">
                  <a:lumMod val="95000"/>
                  <a:lumOff val="5000"/>
                </a:schemeClr>
              </a:solidFill>
              <a:latin typeface="+mn-lt"/>
              <a:cs typeface="Times New Roman" panose="02020603050405020304" pitchFamily="18" charset="0"/>
            </a:endParaRPr>
          </a:p>
        </p:txBody>
      </p:sp>
    </p:spTree>
    <p:extLst>
      <p:ext uri="{BB962C8B-B14F-4D97-AF65-F5344CB8AC3E}">
        <p14:creationId xmlns:p14="http://schemas.microsoft.com/office/powerpoint/2010/main" val="3636421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B1A4E-3A8F-D0BE-5EE4-F2D112E95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7CDC5-6A1E-A6AD-7E4F-77FF7B2770B3}"/>
              </a:ext>
            </a:extLst>
          </p:cNvPr>
          <p:cNvSpPr>
            <a:spLocks noGrp="1"/>
          </p:cNvSpPr>
          <p:nvPr>
            <p:ph type="title"/>
          </p:nvPr>
        </p:nvSpPr>
        <p:spPr>
          <a:xfrm>
            <a:off x="2063832" y="596542"/>
            <a:ext cx="6589199" cy="1280890"/>
          </a:xfrm>
        </p:spPr>
        <p:txBody>
          <a:bodyPr/>
          <a:lstStyle/>
          <a:p>
            <a:pPr eaLnBrk="1" hangingPunct="1">
              <a:lnSpc>
                <a:spcPct val="100000"/>
              </a:lnSpc>
              <a:spcBef>
                <a:spcPct val="0"/>
              </a:spcBef>
              <a:buFontTx/>
              <a:buNone/>
            </a:pPr>
            <a:r>
              <a:rPr lang="en-US" altLang="en-US" sz="3600" b="1" dirty="0">
                <a:latin typeface="Times New Roman" panose="02020603050405020304" pitchFamily="18" charset="0"/>
                <a:cs typeface="Times New Roman" panose="02020603050405020304" pitchFamily="18" charset="0"/>
              </a:rPr>
              <a:t>Content of Presentation</a:t>
            </a:r>
            <a:endParaRPr lang="en-IN" altLang="en-US" sz="3600" b="1" dirty="0">
              <a:latin typeface="Times New Roman" panose="02020603050405020304" pitchFamily="18" charset="0"/>
              <a:cs typeface="Times New Roman" panose="02020603050405020304" pitchFamily="18" charset="0"/>
            </a:endParaRPr>
          </a:p>
        </p:txBody>
      </p:sp>
      <p:sp>
        <p:nvSpPr>
          <p:cNvPr id="13" name="Slide Number Placeholder 12">
            <a:extLst>
              <a:ext uri="{FF2B5EF4-FFF2-40B4-BE49-F238E27FC236}">
                <a16:creationId xmlns:a16="http://schemas.microsoft.com/office/drawing/2014/main" id="{FB67126C-9323-55AA-48B7-DC5EE6F20620}"/>
              </a:ext>
            </a:extLst>
          </p:cNvPr>
          <p:cNvSpPr>
            <a:spLocks noGrp="1"/>
          </p:cNvSpPr>
          <p:nvPr>
            <p:ph type="sldNum" sz="quarter" idx="12"/>
          </p:nvPr>
        </p:nvSpPr>
        <p:spPr/>
        <p:txBody>
          <a:bodyPr/>
          <a:lstStyle/>
          <a:p>
            <a:fld id="{C1FF6DA9-008F-8B48-92A6-B652298478BF}" type="slidenum">
              <a:rPr lang="en-US" smtClean="0"/>
              <a:t>2</a:t>
            </a:fld>
            <a:endParaRPr lang="en-US"/>
          </a:p>
        </p:txBody>
      </p:sp>
      <p:pic>
        <p:nvPicPr>
          <p:cNvPr id="5" name="image2.png">
            <a:extLst>
              <a:ext uri="{FF2B5EF4-FFF2-40B4-BE49-F238E27FC236}">
                <a16:creationId xmlns:a16="http://schemas.microsoft.com/office/drawing/2014/main" id="{5C66B47F-9EA8-0019-0CA0-9124FE926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465"/>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0612B986-57C7-B0AD-60C3-6840581CDF6F}"/>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pic>
        <p:nvPicPr>
          <p:cNvPr id="7" name="Picture 6">
            <a:extLst>
              <a:ext uri="{FF2B5EF4-FFF2-40B4-BE49-F238E27FC236}">
                <a16:creationId xmlns:a16="http://schemas.microsoft.com/office/drawing/2014/main" id="{8200E43B-9A97-D122-DD73-F3C587CA3882}"/>
              </a:ext>
            </a:extLst>
          </p:cNvPr>
          <p:cNvPicPr>
            <a:picLocks noChangeAspect="1"/>
          </p:cNvPicPr>
          <p:nvPr/>
        </p:nvPicPr>
        <p:blipFill>
          <a:blip r:embed="rId3"/>
          <a:stretch>
            <a:fillRect/>
          </a:stretch>
        </p:blipFill>
        <p:spPr>
          <a:xfrm>
            <a:off x="7158466" y="3368535"/>
            <a:ext cx="2622915" cy="3489465"/>
          </a:xfrm>
          <a:prstGeom prst="rect">
            <a:avLst/>
          </a:prstGeom>
          <a:effectLst>
            <a:glow>
              <a:schemeClr val="accent1"/>
            </a:glow>
            <a:outerShdw blurRad="177800" dist="50800" dir="5400000" algn="ctr" rotWithShape="0">
              <a:srgbClr val="000000">
                <a:alpha val="96000"/>
              </a:srgbClr>
            </a:outerShdw>
          </a:effectLst>
        </p:spPr>
      </p:pic>
      <p:graphicFrame>
        <p:nvGraphicFramePr>
          <p:cNvPr id="10" name="Table 9">
            <a:extLst>
              <a:ext uri="{FF2B5EF4-FFF2-40B4-BE49-F238E27FC236}">
                <a16:creationId xmlns:a16="http://schemas.microsoft.com/office/drawing/2014/main" id="{EAB4C38B-195C-BE20-8F54-13620453E857}"/>
              </a:ext>
            </a:extLst>
          </p:cNvPr>
          <p:cNvGraphicFramePr>
            <a:graphicFrameLocks noGrp="1"/>
          </p:cNvGraphicFramePr>
          <p:nvPr>
            <p:extLst>
              <p:ext uri="{D42A27DB-BD31-4B8C-83A1-F6EECF244321}">
                <p14:modId xmlns:p14="http://schemas.microsoft.com/office/powerpoint/2010/main" val="2756968231"/>
              </p:ext>
            </p:extLst>
          </p:nvPr>
        </p:nvGraphicFramePr>
        <p:xfrm>
          <a:off x="1921592" y="2314348"/>
          <a:ext cx="5921829" cy="4042449"/>
        </p:xfrm>
        <a:graphic>
          <a:graphicData uri="http://schemas.openxmlformats.org/drawingml/2006/table">
            <a:tbl>
              <a:tblPr firstRow="1" bandRow="1">
                <a:tableStyleId>{5940675A-B579-460E-94D1-54222C63F5DA}</a:tableStyleId>
              </a:tblPr>
              <a:tblGrid>
                <a:gridCol w="841779">
                  <a:extLst>
                    <a:ext uri="{9D8B030D-6E8A-4147-A177-3AD203B41FA5}">
                      <a16:colId xmlns:a16="http://schemas.microsoft.com/office/drawing/2014/main" val="20000"/>
                    </a:ext>
                  </a:extLst>
                </a:gridCol>
                <a:gridCol w="5080050">
                  <a:extLst>
                    <a:ext uri="{9D8B030D-6E8A-4147-A177-3AD203B41FA5}">
                      <a16:colId xmlns:a16="http://schemas.microsoft.com/office/drawing/2014/main" val="20001"/>
                    </a:ext>
                  </a:extLst>
                </a:gridCol>
              </a:tblGrid>
              <a:tr h="361161">
                <a:tc>
                  <a:txBody>
                    <a:bodyPr/>
                    <a:lstStyle/>
                    <a:p>
                      <a:pPr algn="l"/>
                      <a:r>
                        <a:rPr lang="en-US" sz="1600" b="1"/>
                        <a:t>Sr No</a:t>
                      </a:r>
                      <a:endParaRPr lang="en-IN" sz="1600" b="1"/>
                    </a:p>
                  </a:txBody>
                  <a:tcPr marL="91431" marR="91431" marT="45723" marB="45723"/>
                </a:tc>
                <a:tc>
                  <a:txBody>
                    <a:bodyPr/>
                    <a:lstStyle/>
                    <a:p>
                      <a:pPr algn="l"/>
                      <a:r>
                        <a:rPr lang="en-US" sz="1600" b="1"/>
                        <a:t>                            Content</a:t>
                      </a:r>
                      <a:endParaRPr lang="en-IN" sz="1600" b="1"/>
                    </a:p>
                  </a:txBody>
                  <a:tcPr marL="91431" marR="91431" marT="45723" marB="45723"/>
                </a:tc>
                <a:extLst>
                  <a:ext uri="{0D108BD9-81ED-4DB2-BD59-A6C34878D82A}">
                    <a16:rowId xmlns:a16="http://schemas.microsoft.com/office/drawing/2014/main" val="10000"/>
                  </a:ext>
                </a:extLst>
              </a:tr>
              <a:tr h="361161">
                <a:tc>
                  <a:txBody>
                    <a:bodyPr/>
                    <a:lstStyle/>
                    <a:p>
                      <a:r>
                        <a:rPr lang="en-US" sz="1600"/>
                        <a:t>01 </a:t>
                      </a:r>
                      <a:endParaRPr lang="en-IN" sz="1600"/>
                    </a:p>
                  </a:txBody>
                  <a:tcPr marL="91431" marR="91431" marT="45723" marB="45723"/>
                </a:tc>
                <a:tc>
                  <a:txBody>
                    <a:bodyPr/>
                    <a:lstStyle/>
                    <a:p>
                      <a:r>
                        <a:rPr lang="en-US" sz="1600"/>
                        <a:t>Abstract</a:t>
                      </a:r>
                      <a:endParaRPr lang="en-IN" sz="1600"/>
                    </a:p>
                  </a:txBody>
                  <a:tcPr marL="91431" marR="91431" marT="45723" marB="45723"/>
                </a:tc>
                <a:extLst>
                  <a:ext uri="{0D108BD9-81ED-4DB2-BD59-A6C34878D82A}">
                    <a16:rowId xmlns:a16="http://schemas.microsoft.com/office/drawing/2014/main" val="10001"/>
                  </a:ext>
                </a:extLst>
              </a:tr>
              <a:tr h="396000">
                <a:tc>
                  <a:txBody>
                    <a:bodyPr/>
                    <a:lstStyle/>
                    <a:p>
                      <a:r>
                        <a:rPr lang="en-US" sz="1600"/>
                        <a:t>02</a:t>
                      </a:r>
                      <a:endParaRPr lang="en-IN" sz="1600"/>
                    </a:p>
                  </a:txBody>
                  <a:tcPr marL="91431" marR="91431" marT="45723" marB="45723"/>
                </a:tc>
                <a:tc>
                  <a:txBody>
                    <a:bodyPr/>
                    <a:lstStyle/>
                    <a:p>
                      <a:r>
                        <a:rPr lang="en-US" sz="1600"/>
                        <a:t>Existing System </a:t>
                      </a:r>
                    </a:p>
                  </a:txBody>
                  <a:tcPr marL="91431" marR="91431" marT="45723" marB="45723"/>
                </a:tc>
                <a:extLst>
                  <a:ext uri="{0D108BD9-81ED-4DB2-BD59-A6C34878D82A}">
                    <a16:rowId xmlns:a16="http://schemas.microsoft.com/office/drawing/2014/main" val="10002"/>
                  </a:ext>
                </a:extLst>
              </a:tr>
              <a:tr h="396000">
                <a:tc>
                  <a:txBody>
                    <a:bodyPr/>
                    <a:lstStyle/>
                    <a:p>
                      <a:r>
                        <a:rPr lang="en-US" sz="1600"/>
                        <a:t>03</a:t>
                      </a:r>
                      <a:endParaRPr lang="en-IN" sz="1600"/>
                    </a:p>
                  </a:txBody>
                  <a:tcPr marL="91431" marR="91431" marT="45723" marB="45723"/>
                </a:tc>
                <a:tc>
                  <a:txBody>
                    <a:bodyPr/>
                    <a:lstStyle/>
                    <a:p>
                      <a:r>
                        <a:rPr lang="en-US" sz="1600"/>
                        <a:t>Introduction </a:t>
                      </a:r>
                    </a:p>
                  </a:txBody>
                  <a:tcPr marL="91431" marR="91431" marT="45723" marB="45723"/>
                </a:tc>
                <a:extLst>
                  <a:ext uri="{0D108BD9-81ED-4DB2-BD59-A6C34878D82A}">
                    <a16:rowId xmlns:a16="http://schemas.microsoft.com/office/drawing/2014/main" val="2635634780"/>
                  </a:ext>
                </a:extLst>
              </a:tr>
              <a:tr h="361161">
                <a:tc>
                  <a:txBody>
                    <a:bodyPr/>
                    <a:lstStyle/>
                    <a:p>
                      <a:r>
                        <a:rPr lang="en-US" sz="1600"/>
                        <a:t>04</a:t>
                      </a:r>
                      <a:endParaRPr lang="en-IN" sz="1600"/>
                    </a:p>
                  </a:txBody>
                  <a:tcPr marL="91431" marR="91431" marT="45723" marB="45723"/>
                </a:tc>
                <a:tc>
                  <a:txBody>
                    <a:bodyPr/>
                    <a:lstStyle/>
                    <a:p>
                      <a:r>
                        <a:rPr lang="en-US" sz="1600"/>
                        <a:t>Project Module</a:t>
                      </a:r>
                      <a:endParaRPr lang="en-IN" sz="1600"/>
                    </a:p>
                  </a:txBody>
                  <a:tcPr marL="91431" marR="91431" marT="45723" marB="45723"/>
                </a:tc>
                <a:extLst>
                  <a:ext uri="{0D108BD9-81ED-4DB2-BD59-A6C34878D82A}">
                    <a16:rowId xmlns:a16="http://schemas.microsoft.com/office/drawing/2014/main" val="10004"/>
                  </a:ext>
                </a:extLst>
              </a:tr>
              <a:tr h="361161">
                <a:tc>
                  <a:txBody>
                    <a:bodyPr/>
                    <a:lstStyle/>
                    <a:p>
                      <a:r>
                        <a:rPr lang="en-US" sz="1600"/>
                        <a:t>05</a:t>
                      </a:r>
                      <a:endParaRPr lang="en-IN" sz="1600"/>
                    </a:p>
                  </a:txBody>
                  <a:tcPr marL="91431" marR="91431" marT="45723" marB="45723"/>
                </a:tc>
                <a:tc>
                  <a:txBody>
                    <a:bodyPr/>
                    <a:lstStyle/>
                    <a:p>
                      <a:r>
                        <a:rPr lang="en-US" sz="1600"/>
                        <a:t>Use case diagram and Flow diagram</a:t>
                      </a:r>
                      <a:endParaRPr lang="en-IN" sz="1600"/>
                    </a:p>
                  </a:txBody>
                  <a:tcPr marL="91431" marR="91431" marT="45723" marB="45723"/>
                </a:tc>
                <a:extLst>
                  <a:ext uri="{0D108BD9-81ED-4DB2-BD59-A6C34878D82A}">
                    <a16:rowId xmlns:a16="http://schemas.microsoft.com/office/drawing/2014/main" val="10005"/>
                  </a:ext>
                </a:extLst>
              </a:tr>
              <a:tr h="361161">
                <a:tc>
                  <a:txBody>
                    <a:bodyPr/>
                    <a:lstStyle/>
                    <a:p>
                      <a:r>
                        <a:rPr lang="en-US" sz="1600"/>
                        <a:t>06 </a:t>
                      </a:r>
                      <a:endParaRPr lang="en-IN" sz="1600"/>
                    </a:p>
                  </a:txBody>
                  <a:tcPr marL="91431" marR="91431" marT="45723" marB="45723"/>
                </a:tc>
                <a:tc>
                  <a:txBody>
                    <a:bodyPr/>
                    <a:lstStyle/>
                    <a:p>
                      <a:r>
                        <a:rPr lang="en-US" sz="1600"/>
                        <a:t>Requirements </a:t>
                      </a:r>
                      <a:endParaRPr lang="en-IN" sz="1600"/>
                    </a:p>
                  </a:txBody>
                  <a:tcPr marL="91431" marR="91431" marT="45723" marB="45723"/>
                </a:tc>
                <a:extLst>
                  <a:ext uri="{0D108BD9-81ED-4DB2-BD59-A6C34878D82A}">
                    <a16:rowId xmlns:a16="http://schemas.microsoft.com/office/drawing/2014/main" val="10006"/>
                  </a:ext>
                </a:extLst>
              </a:tr>
              <a:tr h="361161">
                <a:tc>
                  <a:txBody>
                    <a:bodyPr/>
                    <a:lstStyle/>
                    <a:p>
                      <a:r>
                        <a:rPr lang="en-US" sz="1600"/>
                        <a:t>08 </a:t>
                      </a:r>
                      <a:endParaRPr lang="en-IN" sz="1600"/>
                    </a:p>
                  </a:txBody>
                  <a:tcPr marL="91431" marR="91431" marT="45723" marB="45723"/>
                </a:tc>
                <a:tc>
                  <a:txBody>
                    <a:bodyPr/>
                    <a:lstStyle/>
                    <a:p>
                      <a:r>
                        <a:rPr lang="en-US" sz="1600"/>
                        <a:t>Limitation</a:t>
                      </a:r>
                      <a:endParaRPr lang="en-IN" sz="1600"/>
                    </a:p>
                  </a:txBody>
                  <a:tcPr marL="91431" marR="91431" marT="45723" marB="45723"/>
                </a:tc>
                <a:extLst>
                  <a:ext uri="{0D108BD9-81ED-4DB2-BD59-A6C34878D82A}">
                    <a16:rowId xmlns:a16="http://schemas.microsoft.com/office/drawing/2014/main" val="10008"/>
                  </a:ext>
                </a:extLst>
              </a:tr>
              <a:tr h="361161">
                <a:tc>
                  <a:txBody>
                    <a:bodyPr/>
                    <a:lstStyle/>
                    <a:p>
                      <a:r>
                        <a:rPr lang="en-US" sz="1600"/>
                        <a:t>09 </a:t>
                      </a:r>
                      <a:endParaRPr lang="en-IN" sz="1600"/>
                    </a:p>
                  </a:txBody>
                  <a:tcPr marL="91431" marR="91431" marT="45723" marB="45723"/>
                </a:tc>
                <a:tc>
                  <a:txBody>
                    <a:bodyPr/>
                    <a:lstStyle/>
                    <a:p>
                      <a:r>
                        <a:rPr lang="en-US" sz="1600"/>
                        <a:t>Future scope</a:t>
                      </a:r>
                    </a:p>
                  </a:txBody>
                  <a:tcPr marL="91431" marR="91431" marT="45723" marB="45723"/>
                </a:tc>
                <a:extLst>
                  <a:ext uri="{0D108BD9-81ED-4DB2-BD59-A6C34878D82A}">
                    <a16:rowId xmlns:a16="http://schemas.microsoft.com/office/drawing/2014/main" val="10009"/>
                  </a:ext>
                </a:extLst>
              </a:tr>
              <a:tr h="361161">
                <a:tc>
                  <a:txBody>
                    <a:bodyPr/>
                    <a:lstStyle/>
                    <a:p>
                      <a:r>
                        <a:rPr lang="en-US" sz="1600"/>
                        <a:t>10</a:t>
                      </a:r>
                      <a:endParaRPr lang="en-IN" sz="1600"/>
                    </a:p>
                  </a:txBody>
                  <a:tcPr marL="91431" marR="91431" marT="45723" marB="4572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Conclusion</a:t>
                      </a:r>
                    </a:p>
                  </a:txBody>
                  <a:tcPr marL="91431" marR="91431" marT="45723" marB="45723"/>
                </a:tc>
                <a:extLst>
                  <a:ext uri="{0D108BD9-81ED-4DB2-BD59-A6C34878D82A}">
                    <a16:rowId xmlns:a16="http://schemas.microsoft.com/office/drawing/2014/main" val="10010"/>
                  </a:ext>
                </a:extLst>
              </a:tr>
              <a:tr h="361161">
                <a:tc>
                  <a:txBody>
                    <a:bodyPr/>
                    <a:lstStyle/>
                    <a:p>
                      <a:r>
                        <a:rPr lang="en-US" sz="1600"/>
                        <a:t>11</a:t>
                      </a:r>
                      <a:endParaRPr lang="en-IN" sz="1600"/>
                    </a:p>
                  </a:txBody>
                  <a:tcPr marL="91431" marR="91431" marT="45723" marB="45723"/>
                </a:tc>
                <a:tc>
                  <a:txBody>
                    <a:bodyPr/>
                    <a:lstStyle/>
                    <a:p>
                      <a:r>
                        <a:rPr lang="en-US" sz="1600" dirty="0"/>
                        <a:t>References</a:t>
                      </a:r>
                    </a:p>
                  </a:txBody>
                  <a:tcPr marL="91431" marR="91431" marT="45723" marB="45723"/>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979194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2DF0B-AC0D-6EB2-6E25-71CDF40C5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79226-7A1A-4CEF-6546-4022EACD8FC5}"/>
              </a:ext>
            </a:extLst>
          </p:cNvPr>
          <p:cNvSpPr>
            <a:spLocks noGrp="1"/>
          </p:cNvSpPr>
          <p:nvPr>
            <p:ph type="title"/>
          </p:nvPr>
        </p:nvSpPr>
        <p:spPr/>
        <p:txBody>
          <a:bodyPr/>
          <a:lstStyle/>
          <a:p>
            <a:r>
              <a:rPr lang="en-US" altLang="en-US" b="1" dirty="0">
                <a:solidFill>
                  <a:schemeClr val="bg1">
                    <a:lumMod val="95000"/>
                  </a:schemeClr>
                </a:solidFill>
                <a:latin typeface="Times New Roman" panose="02020603050405020304" pitchFamily="18" charset="0"/>
                <a:ea typeface="Calibri"/>
                <a:cs typeface="Times New Roman" panose="02020603050405020304" pitchFamily="18" charset="0"/>
              </a:rPr>
              <a:t>Abstract</a:t>
            </a:r>
            <a:endParaRPr b="1" dirty="0">
              <a:solidFill>
                <a:schemeClr val="bg1">
                  <a:lumMod val="9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04F7FEB-4BFB-0055-79B8-A2C55A7D0F63}"/>
              </a:ext>
            </a:extLst>
          </p:cNvPr>
          <p:cNvSpPr>
            <a:spLocks noGrp="1"/>
          </p:cNvSpPr>
          <p:nvPr>
            <p:ph idx="1"/>
          </p:nvPr>
        </p:nvSpPr>
        <p:spPr>
          <a:xfrm>
            <a:off x="231493" y="2642436"/>
            <a:ext cx="8465467" cy="4123472"/>
          </a:xfrm>
        </p:spPr>
        <p:txBody>
          <a:bodyPr>
            <a:noAutofit/>
          </a:bodyPr>
          <a:lstStyle/>
          <a:p>
            <a:pPr marL="502920" marR="858520" algn="just">
              <a:buNone/>
            </a:pPr>
            <a:r>
              <a:rPr lang="en-US" sz="1800" b="1" dirty="0">
                <a:solidFill>
                  <a:schemeClr val="tx1"/>
                </a:solidFill>
                <a:effectLst/>
                <a:latin typeface="Times New Roman" panose="02020603050405020304" pitchFamily="18" charset="0"/>
                <a:ea typeface="Times New Roman" panose="02020603050405020304" pitchFamily="18" charset="0"/>
              </a:rPr>
              <a:t>      CAREPULSE is disrupting the healthcare industry by making use of wearables/smartphone and machine learning for real-time detection of disease. These smartwatches accumulate enormous amounts of health</a:t>
            </a:r>
            <a:r>
              <a:rPr lang="en-US" sz="1800" b="1" spc="-30"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data,</a:t>
            </a:r>
            <a:r>
              <a:rPr lang="en-US" sz="1800" b="1" spc="-8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which</a:t>
            </a:r>
            <a:r>
              <a:rPr lang="en-US" sz="1800" b="1" spc="-5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ML</a:t>
            </a:r>
            <a:r>
              <a:rPr lang="en-US" sz="1800" b="1" spc="-60"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algorithms</a:t>
            </a:r>
            <a:r>
              <a:rPr lang="en-US" sz="1800" b="1" spc="-5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analyze</a:t>
            </a:r>
            <a:r>
              <a:rPr lang="en-US" sz="1800" b="1" spc="-4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to</a:t>
            </a:r>
            <a:r>
              <a:rPr lang="en-US" sz="1800" b="1" spc="-5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recognize</a:t>
            </a:r>
            <a:r>
              <a:rPr lang="en-US" sz="1800" b="1" spc="-8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predetermined patterns</a:t>
            </a:r>
            <a:r>
              <a:rPr lang="en-US" sz="1800" b="1" spc="-30"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of</a:t>
            </a:r>
            <a:r>
              <a:rPr lang="en-US" sz="1800" b="1" spc="-1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risks</a:t>
            </a:r>
            <a:r>
              <a:rPr lang="en-US" sz="1800" b="1" spc="-30"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and</a:t>
            </a:r>
            <a:r>
              <a:rPr lang="en-US" sz="1800" b="1" spc="-30"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then</a:t>
            </a:r>
            <a:r>
              <a:rPr lang="en-US" sz="1800" b="1" spc="-1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give</a:t>
            </a:r>
            <a:r>
              <a:rPr lang="en-US" sz="1800" b="1" spc="-10"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alerts</a:t>
            </a:r>
            <a:r>
              <a:rPr lang="en-US" sz="1800" b="1" spc="-1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concerning</a:t>
            </a:r>
            <a:r>
              <a:rPr lang="en-US" sz="1800" b="1" spc="-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critical</a:t>
            </a:r>
            <a:r>
              <a:rPr lang="en-US" sz="1800" b="1" spc="-1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matters</a:t>
            </a:r>
            <a:r>
              <a:rPr lang="en-US" sz="1800" b="1" spc="-15" dirty="0">
                <a:solidFill>
                  <a:schemeClr val="tx1"/>
                </a:solidFill>
                <a:effectLst/>
                <a:latin typeface="Times New Roman" panose="02020603050405020304" pitchFamily="18" charset="0"/>
                <a:ea typeface="Times New Roman" panose="02020603050405020304" pitchFamily="18" charset="0"/>
              </a:rPr>
              <a:t> </a:t>
            </a:r>
            <a:r>
              <a:rPr lang="en-US" sz="1800" b="1" dirty="0">
                <a:solidFill>
                  <a:schemeClr val="tx1"/>
                </a:solidFill>
                <a:effectLst/>
                <a:latin typeface="Times New Roman" panose="02020603050405020304" pitchFamily="18" charset="0"/>
                <a:ea typeface="Times New Roman" panose="02020603050405020304" pitchFamily="18" charset="0"/>
              </a:rPr>
              <a:t>such as heart attacks. The app monitors consumers' health data and will even notify them of possible problems, giving alerts.</a:t>
            </a:r>
            <a:endParaRPr lang="en-IN" sz="1800" b="1" dirty="0">
              <a:solidFill>
                <a:schemeClr val="tx1"/>
              </a:solidFill>
              <a:effectLst/>
              <a:latin typeface="Times New Roman" panose="02020603050405020304" pitchFamily="18" charset="0"/>
              <a:ea typeface="Times New Roman" panose="02020603050405020304" pitchFamily="18" charset="0"/>
            </a:endParaRPr>
          </a:p>
          <a:p>
            <a:pPr algn="just">
              <a:buNone/>
            </a:pPr>
            <a:br>
              <a:rPr lang="en-US" sz="1800" b="1" dirty="0">
                <a:solidFill>
                  <a:schemeClr val="tx1"/>
                </a:solidFill>
                <a:effectLst/>
                <a:latin typeface="Times New Roman" panose="02020603050405020304" pitchFamily="18" charset="0"/>
                <a:ea typeface="Times New Roman" panose="02020603050405020304" pitchFamily="18" charset="0"/>
              </a:rPr>
            </a:br>
            <a:endParaRPr b="1" dirty="0">
              <a:solidFill>
                <a:schemeClr val="tx1"/>
              </a:solidFill>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74CEFC0-39F3-D48D-85EE-3C8132403FAD}"/>
              </a:ext>
            </a:extLst>
          </p:cNvPr>
          <p:cNvSpPr>
            <a:spLocks noGrp="1"/>
          </p:cNvSpPr>
          <p:nvPr>
            <p:ph type="sldNum" sz="quarter" idx="12"/>
          </p:nvPr>
        </p:nvSpPr>
        <p:spPr/>
        <p:txBody>
          <a:bodyPr/>
          <a:lstStyle/>
          <a:p>
            <a:fld id="{C1FF6DA9-008F-8B48-92A6-B652298478BF}" type="slidenum">
              <a:rPr lang="en-US" smtClean="0"/>
              <a:t>3</a:t>
            </a:fld>
            <a:endParaRPr lang="en-US"/>
          </a:p>
        </p:txBody>
      </p:sp>
      <p:pic>
        <p:nvPicPr>
          <p:cNvPr id="5" name="image2.png">
            <a:extLst>
              <a:ext uri="{FF2B5EF4-FFF2-40B4-BE49-F238E27FC236}">
                <a16:creationId xmlns:a16="http://schemas.microsoft.com/office/drawing/2014/main" id="{22D720FF-971D-541C-F75E-65A5E92B81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95" y="92092"/>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67D2BF1E-18A1-7090-D9DE-3101EB53D9D9}"/>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spTree>
    <p:extLst>
      <p:ext uri="{BB962C8B-B14F-4D97-AF65-F5344CB8AC3E}">
        <p14:creationId xmlns:p14="http://schemas.microsoft.com/office/powerpoint/2010/main" val="4092457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D670F-86B0-9298-8B88-92F2814D59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E427A-9BEB-767D-0FE5-0CE21EB3060E}"/>
              </a:ext>
            </a:extLst>
          </p:cNvPr>
          <p:cNvSpPr>
            <a:spLocks noGrp="1"/>
          </p:cNvSpPr>
          <p:nvPr>
            <p:ph type="title"/>
          </p:nvPr>
        </p:nvSpPr>
        <p:spPr/>
        <p:txBody>
          <a:bodyPr/>
          <a:lstStyle/>
          <a:p>
            <a:r>
              <a:rPr lang="en-US" altLang="en-US" b="1" dirty="0">
                <a:solidFill>
                  <a:schemeClr val="bg1">
                    <a:lumMod val="95000"/>
                  </a:schemeClr>
                </a:solidFill>
                <a:latin typeface="Times New Roman" panose="02020603050405020304" pitchFamily="18" charset="0"/>
                <a:ea typeface="Calibri"/>
                <a:cs typeface="Times New Roman" panose="02020603050405020304" pitchFamily="18" charset="0"/>
              </a:rPr>
              <a:t>Existing</a:t>
            </a:r>
            <a:r>
              <a:rPr lang="en-US" altLang="en-US" b="1" dirty="0">
                <a:solidFill>
                  <a:schemeClr val="accent2"/>
                </a:solidFill>
                <a:latin typeface="Times New Roman" panose="02020603050405020304" pitchFamily="18" charset="0"/>
                <a:ea typeface="Calibri"/>
                <a:cs typeface="Times New Roman" panose="02020603050405020304" pitchFamily="18" charset="0"/>
              </a:rPr>
              <a:t> </a:t>
            </a:r>
            <a:r>
              <a:rPr lang="en-US" altLang="en-US" b="1" dirty="0">
                <a:solidFill>
                  <a:schemeClr val="bg1">
                    <a:lumMod val="95000"/>
                  </a:schemeClr>
                </a:solidFill>
                <a:latin typeface="Times New Roman" panose="02020603050405020304" pitchFamily="18" charset="0"/>
                <a:ea typeface="Calibri"/>
                <a:cs typeface="Times New Roman" panose="02020603050405020304" pitchFamily="18" charset="0"/>
              </a:rPr>
              <a:t>System</a:t>
            </a:r>
            <a:endParaRPr b="1" dirty="0">
              <a:solidFill>
                <a:schemeClr val="bg1">
                  <a:lumMod val="9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362E61-DA3B-F680-2A47-9D6208F84D64}"/>
              </a:ext>
            </a:extLst>
          </p:cNvPr>
          <p:cNvSpPr>
            <a:spLocks noGrp="1"/>
          </p:cNvSpPr>
          <p:nvPr>
            <p:ph idx="1"/>
          </p:nvPr>
        </p:nvSpPr>
        <p:spPr>
          <a:xfrm>
            <a:off x="609600" y="2324769"/>
            <a:ext cx="8362117" cy="3777622"/>
          </a:xfrm>
        </p:spPr>
        <p:txBody>
          <a:bodyPr vert="horz" lIns="91440" tIns="45720" rIns="91440" bIns="45720" rtlCol="0" anchor="t">
            <a:normAutofit/>
          </a:bodyPr>
          <a:lstStyle/>
          <a:p>
            <a:r>
              <a:rPr lang="en-US" b="1" dirty="0">
                <a:solidFill>
                  <a:schemeClr val="bg2">
                    <a:lumMod val="10000"/>
                  </a:schemeClr>
                </a:solidFill>
                <a:ea typeface="+mn-lt"/>
                <a:cs typeface="+mn-lt"/>
              </a:rPr>
              <a:t>Wearable Devices</a:t>
            </a:r>
            <a:r>
              <a:rPr lang="en-US" dirty="0">
                <a:solidFill>
                  <a:schemeClr val="bg2">
                    <a:lumMod val="10000"/>
                  </a:schemeClr>
                </a:solidFill>
                <a:ea typeface="+mn-lt"/>
                <a:cs typeface="+mn-lt"/>
              </a:rPr>
              <a:t>: Track fitness metrics (e.g., heart rate, steps) but lack disease detection.</a:t>
            </a:r>
            <a:endParaRPr lang="en-US" dirty="0">
              <a:solidFill>
                <a:schemeClr val="bg2">
                  <a:lumMod val="10000"/>
                </a:schemeClr>
              </a:solidFill>
            </a:endParaRPr>
          </a:p>
          <a:p>
            <a:r>
              <a:rPr lang="en-US" b="1" dirty="0">
                <a:solidFill>
                  <a:schemeClr val="bg2">
                    <a:lumMod val="10000"/>
                  </a:schemeClr>
                </a:solidFill>
                <a:ea typeface="+mn-lt"/>
                <a:cs typeface="+mn-lt"/>
              </a:rPr>
              <a:t>Medical Devices</a:t>
            </a:r>
            <a:r>
              <a:rPr lang="en-US" dirty="0">
                <a:solidFill>
                  <a:schemeClr val="bg2">
                    <a:lumMod val="10000"/>
                  </a:schemeClr>
                </a:solidFill>
                <a:ea typeface="+mn-lt"/>
                <a:cs typeface="+mn-lt"/>
              </a:rPr>
              <a:t>: every tracking is taken by different </a:t>
            </a:r>
            <a:r>
              <a:rPr lang="en-US" dirty="0" err="1">
                <a:solidFill>
                  <a:schemeClr val="bg2">
                    <a:lumMod val="10000"/>
                  </a:schemeClr>
                </a:solidFill>
                <a:ea typeface="+mn-lt"/>
                <a:cs typeface="+mn-lt"/>
              </a:rPr>
              <a:t>different</a:t>
            </a:r>
            <a:r>
              <a:rPr lang="en-US" dirty="0">
                <a:solidFill>
                  <a:schemeClr val="bg2">
                    <a:lumMod val="10000"/>
                  </a:schemeClr>
                </a:solidFill>
                <a:ea typeface="+mn-lt"/>
                <a:cs typeface="+mn-lt"/>
              </a:rPr>
              <a:t> device. </a:t>
            </a:r>
          </a:p>
          <a:p>
            <a:r>
              <a:rPr lang="en-US" b="1" dirty="0">
                <a:solidFill>
                  <a:schemeClr val="bg2">
                    <a:lumMod val="10000"/>
                  </a:schemeClr>
                </a:solidFill>
                <a:ea typeface="+mn-lt"/>
                <a:cs typeface="+mn-lt"/>
              </a:rPr>
              <a:t>Health Apps</a:t>
            </a:r>
            <a:r>
              <a:rPr lang="en-US" dirty="0">
                <a:solidFill>
                  <a:schemeClr val="bg2">
                    <a:lumMod val="10000"/>
                  </a:schemeClr>
                </a:solidFill>
                <a:ea typeface="+mn-lt"/>
                <a:cs typeface="+mn-lt"/>
              </a:rPr>
              <a:t>: Collect data but offer limited analysis without predictive capabilities.</a:t>
            </a:r>
            <a:endParaRPr lang="en-US" dirty="0">
              <a:solidFill>
                <a:schemeClr val="bg2">
                  <a:lumMod val="10000"/>
                </a:schemeClr>
              </a:solidFill>
            </a:endParaRPr>
          </a:p>
          <a:p>
            <a:r>
              <a:rPr lang="en-US" b="1" dirty="0">
                <a:solidFill>
                  <a:schemeClr val="bg2">
                    <a:lumMod val="10000"/>
                  </a:schemeClr>
                </a:solidFill>
                <a:ea typeface="+mn-lt"/>
                <a:cs typeface="+mn-lt"/>
              </a:rPr>
              <a:t>Telemedicine</a:t>
            </a:r>
            <a:r>
              <a:rPr lang="en-US" dirty="0">
                <a:solidFill>
                  <a:schemeClr val="bg2">
                    <a:lumMod val="10000"/>
                  </a:schemeClr>
                </a:solidFill>
                <a:ea typeface="+mn-lt"/>
                <a:cs typeface="+mn-lt"/>
              </a:rPr>
              <a:t>: Relies on manual data entry, lacks real-time integration.</a:t>
            </a:r>
            <a:endParaRPr lang="en-US" dirty="0">
              <a:solidFill>
                <a:schemeClr val="bg2">
                  <a:lumMod val="10000"/>
                </a:schemeClr>
              </a:solidFill>
            </a:endParaRPr>
          </a:p>
          <a:p>
            <a:endParaRPr lang="en-US" dirty="0">
              <a:solidFill>
                <a:schemeClr val="bg2">
                  <a:lumMod val="10000"/>
                </a:schemeClr>
              </a:solidFill>
            </a:endParaRPr>
          </a:p>
        </p:txBody>
      </p:sp>
      <p:sp>
        <p:nvSpPr>
          <p:cNvPr id="8" name="Slide Number Placeholder 7">
            <a:extLst>
              <a:ext uri="{FF2B5EF4-FFF2-40B4-BE49-F238E27FC236}">
                <a16:creationId xmlns:a16="http://schemas.microsoft.com/office/drawing/2014/main" id="{01037B30-B1DE-8F5B-8325-12C728A4E8B6}"/>
              </a:ext>
            </a:extLst>
          </p:cNvPr>
          <p:cNvSpPr>
            <a:spLocks noGrp="1"/>
          </p:cNvSpPr>
          <p:nvPr>
            <p:ph type="sldNum" sz="quarter" idx="12"/>
          </p:nvPr>
        </p:nvSpPr>
        <p:spPr/>
        <p:txBody>
          <a:bodyPr/>
          <a:lstStyle/>
          <a:p>
            <a:fld id="{C1FF6DA9-008F-8B48-92A6-B652298478BF}" type="slidenum">
              <a:rPr lang="en-US" smtClean="0"/>
              <a:t>4</a:t>
            </a:fld>
            <a:endParaRPr lang="en-US"/>
          </a:p>
        </p:txBody>
      </p:sp>
      <p:pic>
        <p:nvPicPr>
          <p:cNvPr id="5" name="image2.png">
            <a:extLst>
              <a:ext uri="{FF2B5EF4-FFF2-40B4-BE49-F238E27FC236}">
                <a16:creationId xmlns:a16="http://schemas.microsoft.com/office/drawing/2014/main" id="{FBFF012A-E9BD-6D45-28FF-BCFF45776E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9" y="157967"/>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35E5B9DA-D734-1BCB-3059-B4B7DA47BC7A}"/>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spTree>
    <p:extLst>
      <p:ext uri="{BB962C8B-B14F-4D97-AF65-F5344CB8AC3E}">
        <p14:creationId xmlns:p14="http://schemas.microsoft.com/office/powerpoint/2010/main" val="1874774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12000" r="-12000"/>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813DAE-ABC1-EE13-F131-1FD21B5F48C1}"/>
              </a:ext>
            </a:extLst>
          </p:cNvPr>
          <p:cNvSpPr>
            <a:spLocks noGrp="1"/>
          </p:cNvSpPr>
          <p:nvPr>
            <p:ph type="sldNum" sz="quarter" idx="12"/>
          </p:nvPr>
        </p:nvSpPr>
        <p:spPr/>
        <p:txBody>
          <a:bodyPr/>
          <a:lstStyle/>
          <a:p>
            <a:fld id="{C1FF6DA9-008F-8B48-92A6-B652298478BF}" type="slidenum">
              <a:rPr lang="en-US" smtClean="0"/>
              <a:t>5</a:t>
            </a:fld>
            <a:endParaRPr lang="en-US"/>
          </a:p>
        </p:txBody>
      </p:sp>
      <p:sp>
        <p:nvSpPr>
          <p:cNvPr id="5" name="TextBox 4">
            <a:extLst>
              <a:ext uri="{FF2B5EF4-FFF2-40B4-BE49-F238E27FC236}">
                <a16:creationId xmlns:a16="http://schemas.microsoft.com/office/drawing/2014/main" id="{4F21B76F-CEF2-DD66-D952-A58434579C59}"/>
              </a:ext>
            </a:extLst>
          </p:cNvPr>
          <p:cNvSpPr txBox="1"/>
          <p:nvPr/>
        </p:nvSpPr>
        <p:spPr>
          <a:xfrm>
            <a:off x="1423157" y="5423789"/>
            <a:ext cx="10877377" cy="769441"/>
          </a:xfrm>
          <a:prstGeom prst="rect">
            <a:avLst/>
          </a:prstGeom>
          <a:noFill/>
        </p:spPr>
        <p:txBody>
          <a:bodyPr wrap="square">
            <a:spAutoFit/>
          </a:bodyPr>
          <a:lstStyle/>
          <a:p>
            <a:r>
              <a:rPr lang="en-IN" sz="4400" b="1" dirty="0" err="1">
                <a:solidFill>
                  <a:srgbClr val="FF0000"/>
                </a:solidFill>
                <a:latin typeface="Times New Roman" panose="02020603050405020304" pitchFamily="18" charset="0"/>
                <a:cs typeface="Times New Roman" panose="02020603050405020304" pitchFamily="18" charset="0"/>
              </a:rPr>
              <a:t>CarePulse:Disease</a:t>
            </a:r>
            <a:r>
              <a:rPr lang="en-IN" sz="4400" b="1" dirty="0">
                <a:solidFill>
                  <a:srgbClr val="FF0000"/>
                </a:solidFill>
                <a:latin typeface="Times New Roman" panose="02020603050405020304" pitchFamily="18" charset="0"/>
                <a:cs typeface="Times New Roman" panose="02020603050405020304" pitchFamily="18" charset="0"/>
              </a:rPr>
              <a:t> Detection 	</a:t>
            </a:r>
          </a:p>
        </p:txBody>
      </p:sp>
      <p:sp>
        <p:nvSpPr>
          <p:cNvPr id="6" name="Title 1">
            <a:extLst>
              <a:ext uri="{FF2B5EF4-FFF2-40B4-BE49-F238E27FC236}">
                <a16:creationId xmlns:a16="http://schemas.microsoft.com/office/drawing/2014/main" id="{61119C4B-F548-62FE-0B34-25945F9E946B}"/>
              </a:ext>
            </a:extLst>
          </p:cNvPr>
          <p:cNvSpPr txBox="1">
            <a:spLocks/>
          </p:cNvSpPr>
          <p:nvPr/>
        </p:nvSpPr>
        <p:spPr>
          <a:xfrm>
            <a:off x="3231637" y="191881"/>
            <a:ext cx="6589199" cy="1280890"/>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latin typeface="Times New Roman" panose="02020603050405020304" pitchFamily="18" charset="0"/>
                <a:ea typeface="Calibri"/>
                <a:cs typeface="Times New Roman" panose="02020603050405020304" pitchFamily="18" charset="0"/>
              </a:rPr>
              <a:t>Project Title </a:t>
            </a:r>
            <a:endParaRPr lang="en-US" b="1" dirty="0">
              <a:solidFill>
                <a:schemeClr val="tx1"/>
              </a:solidFill>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0B13DE1D-B4F8-6C4D-0E47-2927B43A8041}"/>
              </a:ext>
            </a:extLst>
          </p:cNvPr>
          <p:cNvCxnSpPr>
            <a:cxnSpLocks/>
          </p:cNvCxnSpPr>
          <p:nvPr/>
        </p:nvCxnSpPr>
        <p:spPr>
          <a:xfrm>
            <a:off x="81460" y="830739"/>
            <a:ext cx="9029700" cy="1587"/>
          </a:xfrm>
          <a:prstGeom prst="line">
            <a:avLst/>
          </a:prstGeom>
          <a:ln>
            <a:solidFill>
              <a:schemeClr val="accent1"/>
            </a:solidFill>
          </a:ln>
        </p:spPr>
        <p:style>
          <a:lnRef idx="1">
            <a:schemeClr val="accent6"/>
          </a:lnRef>
          <a:fillRef idx="0">
            <a:schemeClr val="accent6"/>
          </a:fillRef>
          <a:effectRef idx="0">
            <a:schemeClr val="accent6"/>
          </a:effectRef>
          <a:fontRef idx="minor">
            <a:schemeClr val="tx1"/>
          </a:fontRef>
        </p:style>
      </p:cxnSp>
      <p:sp>
        <p:nvSpPr>
          <p:cNvPr id="9" name="Slide Number Placeholder 7">
            <a:extLst>
              <a:ext uri="{FF2B5EF4-FFF2-40B4-BE49-F238E27FC236}">
                <a16:creationId xmlns:a16="http://schemas.microsoft.com/office/drawing/2014/main" id="{6129E391-B413-72F2-C1B1-2E0F01FA0658}"/>
              </a:ext>
            </a:extLst>
          </p:cNvPr>
          <p:cNvSpPr txBox="1">
            <a:spLocks/>
          </p:cNvSpPr>
          <p:nvPr/>
        </p:nvSpPr>
        <p:spPr bwMode="gray">
          <a:xfrm>
            <a:off x="592688" y="391367"/>
            <a:ext cx="584978" cy="365125"/>
          </a:xfrm>
          <a:prstGeom prst="rect">
            <a:avLst/>
          </a:prstGeom>
        </p:spPr>
        <p:txBody>
          <a:bodyPr vert="horz" lIns="91440" tIns="45720" rIns="91440" bIns="45720" rtlCol="0" anchor="ctr"/>
          <a:lstStyle>
            <a:defPPr>
              <a:defRPr lang="en-US"/>
            </a:defPPr>
            <a:lvl1pPr marL="0" algn="r" defTabSz="457200" rtl="0" eaLnBrk="1" latinLnBrk="0" hangingPunct="1">
              <a:defRPr sz="2000" kern="1200">
                <a:solidFill>
                  <a:srgbClr val="FE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FF6DA9-008F-8B48-92A6-B652298478BF}" type="slidenum">
              <a:rPr lang="en-US" smtClean="0"/>
              <a:pPr/>
              <a:t>5</a:t>
            </a:fld>
            <a:endParaRPr lang="en-US" dirty="0"/>
          </a:p>
        </p:txBody>
      </p:sp>
      <p:pic>
        <p:nvPicPr>
          <p:cNvPr id="2" name="image2.png">
            <a:extLst>
              <a:ext uri="{FF2B5EF4-FFF2-40B4-BE49-F238E27FC236}">
                <a16:creationId xmlns:a16="http://schemas.microsoft.com/office/drawing/2014/main" id="{2F77B2E0-B41C-4C0B-1F85-8AD03E630D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61" y="54098"/>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8920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bg1">
                    <a:lumMod val="85000"/>
                  </a:schemeClr>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508777" y="2610328"/>
            <a:ext cx="8635223" cy="4424985"/>
          </a:xfrm>
        </p:spPr>
        <p:txBody>
          <a:bodyPr vert="horz" lIns="91440" tIns="45720" rIns="91440" bIns="45720" rtlCol="0" anchor="t">
            <a:normAutofit/>
          </a:bodyPr>
          <a:lstStyle/>
          <a:p>
            <a:pPr marL="0" indent="0" algn="l">
              <a:buNone/>
            </a:pPr>
            <a:r>
              <a:rPr lang="en-US" sz="1800" b="1" i="0" u="none" strike="noStrike" baseline="0" dirty="0">
                <a:latin typeface="CIDFont+F2"/>
              </a:rPr>
              <a:t>Wearable AI technologies like smartwatches and health monitors help a user in keeping track of very vital health parameters such as heart rate and SpO₂ levels. However, these devices are not often used for real-time disease detection. This is where </a:t>
            </a:r>
            <a:r>
              <a:rPr lang="en-US" sz="1800" b="1" i="0" u="none" strike="noStrike" baseline="0" dirty="0" err="1">
                <a:latin typeface="CIDFont+F2"/>
              </a:rPr>
              <a:t>CarePulse</a:t>
            </a:r>
            <a:r>
              <a:rPr lang="en-US" sz="1800" b="1" i="0" u="none" strike="noStrike" baseline="0" dirty="0">
                <a:latin typeface="CIDFont+F2"/>
              </a:rPr>
              <a:t> comes into play-it leverages machine learning to extract valuable indicators from smartwatch data to identify people at risk of heart disease, arrhythmia, hypertension, and stress. The mobile application sends instant alert notifications to the user and </a:t>
            </a:r>
            <a:r>
              <a:rPr lang="en-IN" sz="1800" b="1" i="0" u="none" strike="noStrike" baseline="0" dirty="0">
                <a:latin typeface="CIDFont+F2"/>
              </a:rPr>
              <a:t>gives </a:t>
            </a:r>
            <a:r>
              <a:rPr lang="en-US" sz="1800" b="1" i="0" u="none" strike="noStrike" baseline="0" dirty="0">
                <a:latin typeface="CIDFont+F2"/>
              </a:rPr>
              <a:t>personalized insights to motivate the user to seek preventive steps towards healthier living.</a:t>
            </a:r>
            <a:endParaRPr lang="en-US" b="1" dirty="0"/>
          </a:p>
          <a:p>
            <a:pPr marL="0" indent="0">
              <a:buNone/>
            </a:pPr>
            <a:endParaRPr lang="en-US" b="1" dirty="0"/>
          </a:p>
        </p:txBody>
      </p:sp>
      <p:sp>
        <p:nvSpPr>
          <p:cNvPr id="16" name="Slide Number Placeholder 15">
            <a:extLst>
              <a:ext uri="{FF2B5EF4-FFF2-40B4-BE49-F238E27FC236}">
                <a16:creationId xmlns:a16="http://schemas.microsoft.com/office/drawing/2014/main" id="{65F5FECD-59A9-64C2-355F-AB79C1ADC352}"/>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14" name="Text Box 13">
            <a:extLst>
              <a:ext uri="{FF2B5EF4-FFF2-40B4-BE49-F238E27FC236}">
                <a16:creationId xmlns:a16="http://schemas.microsoft.com/office/drawing/2014/main" id="{90416C2D-BDB1-8BF6-0BB1-5563051DBCC6}"/>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pic>
        <p:nvPicPr>
          <p:cNvPr id="6" name="image2.png">
            <a:extLst>
              <a:ext uri="{FF2B5EF4-FFF2-40B4-BE49-F238E27FC236}">
                <a16:creationId xmlns:a16="http://schemas.microsoft.com/office/drawing/2014/main" id="{2E61132F-5513-F2BE-1CC3-44C2729E85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61" y="54098"/>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87B2E-577F-F3CE-AA03-A8A76D3AA2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CFDBA8-40C8-70A5-6C37-FF5C5EEBB2BB}"/>
              </a:ext>
            </a:extLst>
          </p:cNvPr>
          <p:cNvSpPr>
            <a:spLocks noGrp="1"/>
          </p:cNvSpPr>
          <p:nvPr>
            <p:ph type="title"/>
          </p:nvPr>
        </p:nvSpPr>
        <p:spPr/>
        <p:txBody>
          <a:bodyPr/>
          <a:lstStyle/>
          <a:p>
            <a:r>
              <a:rPr lang="en-IN" b="1" dirty="0">
                <a:solidFill>
                  <a:schemeClr val="bg1">
                    <a:lumMod val="85000"/>
                  </a:schemeClr>
                </a:solidFill>
                <a:latin typeface="Times New Roman" panose="02020603050405020304" pitchFamily="18" charset="0"/>
                <a:cs typeface="Times New Roman" panose="02020603050405020304" pitchFamily="18" charset="0"/>
              </a:rPr>
              <a:t>Problem Statement</a:t>
            </a:r>
            <a:endParaRPr b="1" dirty="0">
              <a:solidFill>
                <a:schemeClr val="bg1">
                  <a:lumMod val="8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1D4933-EB53-F044-243F-DDEE55037CED}"/>
              </a:ext>
            </a:extLst>
          </p:cNvPr>
          <p:cNvSpPr>
            <a:spLocks noGrp="1"/>
          </p:cNvSpPr>
          <p:nvPr>
            <p:ph idx="1"/>
          </p:nvPr>
        </p:nvSpPr>
        <p:spPr>
          <a:xfrm>
            <a:off x="501320" y="2297560"/>
            <a:ext cx="8155000" cy="3633341"/>
          </a:xfrm>
        </p:spPr>
        <p:txBody>
          <a:bodyPr>
            <a:normAutofit/>
          </a:bodyPr>
          <a:lstStyle/>
          <a:p>
            <a:r>
              <a:rPr lang="en-US" sz="1600" b="1" dirty="0">
                <a:solidFill>
                  <a:schemeClr val="tx1"/>
                </a:solidFill>
                <a:latin typeface="Times New Roman" panose="02020603050405020304" pitchFamily="18" charset="0"/>
                <a:cs typeface="Times New Roman" panose="02020603050405020304" pitchFamily="18" charset="0"/>
              </a:rPr>
              <a:t>Many diseases go undetected due to a lack of continuous monitoring and early warning systems. Traditional healthcare relies on periodic checkups and patient-reported symptoms, leading to delays in diagnosis, especially for conditions like cardiovascular diseases and chronic illnesses.</a:t>
            </a:r>
          </a:p>
          <a:p>
            <a:r>
              <a:rPr lang="en-US" sz="1600" b="1" dirty="0">
                <a:solidFill>
                  <a:schemeClr val="tx1"/>
                </a:solidFill>
                <a:latin typeface="Times New Roman" panose="02020603050405020304" pitchFamily="18" charset="0"/>
                <a:cs typeface="Times New Roman" panose="02020603050405020304" pitchFamily="18" charset="0"/>
              </a:rPr>
              <a:t>Current monitoring systems, like fitness trackers, are often limited in scope, making them inadequate for comprehensive disease detection. Geographic constraints and inefficiencies in record-keeping further complicate early diagnosis.</a:t>
            </a:r>
          </a:p>
          <a:p>
            <a:r>
              <a:rPr lang="en-US" sz="1600" b="1" dirty="0">
                <a:solidFill>
                  <a:schemeClr val="tx1"/>
                </a:solidFill>
                <a:latin typeface="Times New Roman" panose="02020603050405020304" pitchFamily="18" charset="0"/>
                <a:cs typeface="Times New Roman" panose="02020603050405020304" pitchFamily="18" charset="0"/>
              </a:rPr>
              <a:t>There is an urgent need for a system that utilizes mobile app technology for continuous health monitoring, enabling early disease detection and providing individuals with actionable insights to improve health outcomes.</a:t>
            </a:r>
          </a:p>
        </p:txBody>
      </p:sp>
      <p:sp>
        <p:nvSpPr>
          <p:cNvPr id="8" name="Slide Number Placeholder 7">
            <a:extLst>
              <a:ext uri="{FF2B5EF4-FFF2-40B4-BE49-F238E27FC236}">
                <a16:creationId xmlns:a16="http://schemas.microsoft.com/office/drawing/2014/main" id="{6D3C6349-131E-E598-A24B-4536031B8DA6}"/>
              </a:ext>
            </a:extLst>
          </p:cNvPr>
          <p:cNvSpPr>
            <a:spLocks noGrp="1"/>
          </p:cNvSpPr>
          <p:nvPr>
            <p:ph type="sldNum" sz="quarter" idx="12"/>
          </p:nvPr>
        </p:nvSpPr>
        <p:spPr/>
        <p:txBody>
          <a:bodyPr/>
          <a:lstStyle/>
          <a:p>
            <a:fld id="{C1FF6DA9-008F-8B48-92A6-B652298478BF}" type="slidenum">
              <a:rPr lang="en-US" smtClean="0"/>
              <a:t>7</a:t>
            </a:fld>
            <a:endParaRPr lang="en-US"/>
          </a:p>
        </p:txBody>
      </p:sp>
      <p:pic>
        <p:nvPicPr>
          <p:cNvPr id="5" name="image2.png">
            <a:extLst>
              <a:ext uri="{FF2B5EF4-FFF2-40B4-BE49-F238E27FC236}">
                <a16:creationId xmlns:a16="http://schemas.microsoft.com/office/drawing/2014/main" id="{0642F49D-C85A-4BB5-0274-B34C5A63A5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61" y="54098"/>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A8D661C4-2874-3943-7CD1-58B127624642}"/>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spTree>
    <p:extLst>
      <p:ext uri="{BB962C8B-B14F-4D97-AF65-F5344CB8AC3E}">
        <p14:creationId xmlns:p14="http://schemas.microsoft.com/office/powerpoint/2010/main" val="3352737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F528F-014A-9BB4-3743-B3D3804B1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1CD18B-C199-EC7B-D800-F7B4B0EEF518}"/>
              </a:ext>
            </a:extLst>
          </p:cNvPr>
          <p:cNvSpPr>
            <a:spLocks noGrp="1"/>
          </p:cNvSpPr>
          <p:nvPr>
            <p:ph type="title"/>
          </p:nvPr>
        </p:nvSpPr>
        <p:spPr/>
        <p:txBody>
          <a:bodyPr/>
          <a:lstStyle/>
          <a:p>
            <a:r>
              <a:rPr lang="en-IN" b="1" dirty="0">
                <a:solidFill>
                  <a:schemeClr val="bg1">
                    <a:lumMod val="85000"/>
                  </a:schemeClr>
                </a:solidFill>
                <a:latin typeface="Times New Roman" panose="02020603050405020304" pitchFamily="18" charset="0"/>
                <a:cs typeface="Times New Roman" panose="02020603050405020304" pitchFamily="18" charset="0"/>
              </a:rPr>
              <a:t>Literature Review</a:t>
            </a:r>
            <a:endParaRPr b="1" dirty="0">
              <a:solidFill>
                <a:schemeClr val="bg1">
                  <a:lumMod val="8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278F8A-E18C-38C6-77F5-7A91AED55DA9}"/>
              </a:ext>
            </a:extLst>
          </p:cNvPr>
          <p:cNvSpPr>
            <a:spLocks noGrp="1"/>
          </p:cNvSpPr>
          <p:nvPr>
            <p:ph idx="1"/>
          </p:nvPr>
        </p:nvSpPr>
        <p:spPr>
          <a:xfrm>
            <a:off x="489535" y="2227597"/>
            <a:ext cx="8258225" cy="4500505"/>
          </a:xfrm>
        </p:spPr>
        <p:txBody>
          <a:bodyPr>
            <a:noAutofit/>
          </a:bodyPr>
          <a:lstStyle/>
          <a:p>
            <a:r>
              <a:rPr lang="en-US" sz="1700" b="1" dirty="0">
                <a:solidFill>
                  <a:schemeClr val="tx1"/>
                </a:solidFill>
                <a:latin typeface="Times New Roman" panose="02020603050405020304" pitchFamily="18" charset="0"/>
                <a:cs typeface="Times New Roman" panose="02020603050405020304" pitchFamily="18" charset="0"/>
              </a:rPr>
              <a:t>Many studies indicate that wearable/fitness app devices can effectively detect health issues by monitoring heart rate, blood oxygen levels, and activity patterns. Devices like the Apple Watch , Fitbit and google fit  track specific conditions such as arrhythmias and sleep apnea through features like ECG monitoring and SpO2 tracking.</a:t>
            </a:r>
          </a:p>
          <a:p>
            <a:r>
              <a:rPr lang="en-US" sz="1700" b="1" dirty="0">
                <a:solidFill>
                  <a:schemeClr val="tx1"/>
                </a:solidFill>
                <a:latin typeface="Times New Roman" panose="02020603050405020304" pitchFamily="18" charset="0"/>
                <a:cs typeface="Times New Roman" panose="02020603050405020304" pitchFamily="18" charset="0"/>
              </a:rPr>
              <a:t>However, there is limited integration of wearables with real-time machine learning (ML) models, often focusing on one disease at a time and lacking complex data analysis. Most existing tools review data after the fact instead of providing real-time feedback.</a:t>
            </a:r>
          </a:p>
          <a:p>
            <a:r>
              <a:rPr lang="en-US" sz="1700" b="1" dirty="0">
                <a:solidFill>
                  <a:schemeClr val="tx1"/>
                </a:solidFill>
                <a:latin typeface="Times New Roman" panose="02020603050405020304" pitchFamily="18" charset="0"/>
                <a:cs typeface="Times New Roman" panose="02020603050405020304" pitchFamily="18" charset="0"/>
              </a:rPr>
              <a:t>By combining continuous data collection from wearables with ML insights, we can enhance ongoing health monitoring. This integration could facilitate early detection of health problems and ultimately improve healthcare outcomes.</a:t>
            </a:r>
          </a:p>
        </p:txBody>
      </p:sp>
      <p:sp>
        <p:nvSpPr>
          <p:cNvPr id="10" name="Slide Number Placeholder 9">
            <a:extLst>
              <a:ext uri="{FF2B5EF4-FFF2-40B4-BE49-F238E27FC236}">
                <a16:creationId xmlns:a16="http://schemas.microsoft.com/office/drawing/2014/main" id="{42B1A286-02D0-4C1E-1B70-71A528D68F91}"/>
              </a:ext>
            </a:extLst>
          </p:cNvPr>
          <p:cNvSpPr>
            <a:spLocks noGrp="1"/>
          </p:cNvSpPr>
          <p:nvPr>
            <p:ph type="sldNum" sz="quarter" idx="12"/>
          </p:nvPr>
        </p:nvSpPr>
        <p:spPr/>
        <p:txBody>
          <a:bodyPr/>
          <a:lstStyle/>
          <a:p>
            <a:fld id="{C1FF6DA9-008F-8B48-92A6-B652298478BF}" type="slidenum">
              <a:rPr lang="en-US" smtClean="0"/>
              <a:t>8</a:t>
            </a:fld>
            <a:endParaRPr lang="en-US"/>
          </a:p>
        </p:txBody>
      </p:sp>
      <p:pic>
        <p:nvPicPr>
          <p:cNvPr id="5" name="image2.png">
            <a:extLst>
              <a:ext uri="{FF2B5EF4-FFF2-40B4-BE49-F238E27FC236}">
                <a16:creationId xmlns:a16="http://schemas.microsoft.com/office/drawing/2014/main" id="{2ABBE049-8A03-BB8A-8463-91E03CA764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2092"/>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3">
            <a:extLst>
              <a:ext uri="{FF2B5EF4-FFF2-40B4-BE49-F238E27FC236}">
                <a16:creationId xmlns:a16="http://schemas.microsoft.com/office/drawing/2014/main" id="{D7692F15-931C-B165-AE44-5787FE6265B6}"/>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spTree>
    <p:extLst>
      <p:ext uri="{BB962C8B-B14F-4D97-AF65-F5344CB8AC3E}">
        <p14:creationId xmlns:p14="http://schemas.microsoft.com/office/powerpoint/2010/main" val="374372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02E40-8611-3E57-D49E-DF86A05E1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6CF98-5D14-2348-66EF-84E21201B2A8}"/>
              </a:ext>
            </a:extLst>
          </p:cNvPr>
          <p:cNvSpPr>
            <a:spLocks noGrp="1"/>
          </p:cNvSpPr>
          <p:nvPr>
            <p:ph type="title"/>
          </p:nvPr>
        </p:nvSpPr>
        <p:spPr/>
        <p:txBody>
          <a:bodyPr/>
          <a:lstStyle/>
          <a:p>
            <a:r>
              <a:rPr lang="en-IN" b="1" dirty="0">
                <a:solidFill>
                  <a:schemeClr val="bg1">
                    <a:lumMod val="85000"/>
                  </a:schemeClr>
                </a:solidFill>
                <a:latin typeface="Times New Roman" panose="02020603050405020304" pitchFamily="18" charset="0"/>
                <a:cs typeface="Times New Roman" panose="02020603050405020304" pitchFamily="18" charset="0"/>
              </a:rPr>
              <a:t>Proposed Methodology</a:t>
            </a:r>
            <a:endParaRPr b="1" dirty="0">
              <a:solidFill>
                <a:schemeClr val="bg1">
                  <a:lumMod val="8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480DDB-3BB3-F0C0-06F4-CD8ED4190794}"/>
              </a:ext>
            </a:extLst>
          </p:cNvPr>
          <p:cNvSpPr>
            <a:spLocks noGrp="1"/>
          </p:cNvSpPr>
          <p:nvPr>
            <p:ph idx="1"/>
          </p:nvPr>
        </p:nvSpPr>
        <p:spPr>
          <a:xfrm>
            <a:off x="489535" y="2424109"/>
            <a:ext cx="8136305" cy="3777622"/>
          </a:xfrm>
        </p:spPr>
        <p:txBody>
          <a:bodyPr>
            <a:normAutofit/>
          </a:bodyPr>
          <a:lstStyle/>
          <a:p>
            <a:r>
              <a:rPr lang="en-US" sz="1600" b="1" dirty="0">
                <a:solidFill>
                  <a:schemeClr val="tx1"/>
                </a:solidFill>
              </a:rPr>
              <a:t>Data Collection: Gather real-time data from smartwatch/ mobile  sensors.</a:t>
            </a:r>
          </a:p>
          <a:p>
            <a:r>
              <a:rPr lang="en-US" sz="1600" b="1" dirty="0">
                <a:solidFill>
                  <a:schemeClr val="tx1"/>
                </a:solidFill>
              </a:rPr>
              <a:t>Data Preprocessing: Clean and normalize the data using machine learning.</a:t>
            </a:r>
          </a:p>
          <a:p>
            <a:r>
              <a:rPr lang="en-US" sz="1600" b="1" dirty="0">
                <a:solidFill>
                  <a:schemeClr val="tx1"/>
                </a:solidFill>
              </a:rPr>
              <a:t>ML Model Development: Train models to detect diseases.</a:t>
            </a:r>
          </a:p>
          <a:p>
            <a:r>
              <a:rPr lang="en-US" sz="1600" b="1" dirty="0">
                <a:solidFill>
                  <a:schemeClr val="tx1"/>
                </a:solidFill>
              </a:rPr>
              <a:t>Deployment: Integrate models into a mobile app.</a:t>
            </a:r>
          </a:p>
          <a:p>
            <a:r>
              <a:rPr lang="en-US" sz="1600" b="1" dirty="0">
                <a:solidFill>
                  <a:schemeClr val="tx1"/>
                </a:solidFill>
              </a:rPr>
              <a:t>Real-Time Feedback: Provide instant health insights.</a:t>
            </a:r>
          </a:p>
        </p:txBody>
      </p:sp>
      <p:sp>
        <p:nvSpPr>
          <p:cNvPr id="8" name="Slide Number Placeholder 7">
            <a:extLst>
              <a:ext uri="{FF2B5EF4-FFF2-40B4-BE49-F238E27FC236}">
                <a16:creationId xmlns:a16="http://schemas.microsoft.com/office/drawing/2014/main" id="{EF95F741-075E-02B2-6EBD-5B93AD5BF7EB}"/>
              </a:ext>
            </a:extLst>
          </p:cNvPr>
          <p:cNvSpPr>
            <a:spLocks noGrp="1"/>
          </p:cNvSpPr>
          <p:nvPr>
            <p:ph type="sldNum" sz="quarter" idx="12"/>
          </p:nvPr>
        </p:nvSpPr>
        <p:spPr/>
        <p:txBody>
          <a:bodyPr/>
          <a:lstStyle/>
          <a:p>
            <a:fld id="{C1FF6DA9-008F-8B48-92A6-B652298478BF}" type="slidenum">
              <a:rPr lang="en-US" smtClean="0"/>
              <a:t>9</a:t>
            </a:fld>
            <a:endParaRPr lang="en-US"/>
          </a:p>
        </p:txBody>
      </p:sp>
      <p:pic>
        <p:nvPicPr>
          <p:cNvPr id="5" name="image2.png">
            <a:extLst>
              <a:ext uri="{FF2B5EF4-FFF2-40B4-BE49-F238E27FC236}">
                <a16:creationId xmlns:a16="http://schemas.microsoft.com/office/drawing/2014/main" id="{9BDC6DEA-00D0-4AEE-225E-9026C778F1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95" y="220788"/>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A6420875-9F4F-A9D6-B177-326D87D7F22E}"/>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spTree>
    <p:extLst>
      <p:ext uri="{BB962C8B-B14F-4D97-AF65-F5344CB8AC3E}">
        <p14:creationId xmlns:p14="http://schemas.microsoft.com/office/powerpoint/2010/main" val="2343412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C72A5-6582-D4DC-33BB-17D241433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C1AE1-F2AB-FB37-CC2A-05A59D861C9F}"/>
              </a:ext>
            </a:extLst>
          </p:cNvPr>
          <p:cNvSpPr>
            <a:spLocks noGrp="1"/>
          </p:cNvSpPr>
          <p:nvPr>
            <p:ph type="title"/>
          </p:nvPr>
        </p:nvSpPr>
        <p:spPr/>
        <p:txBody>
          <a:bodyPr/>
          <a:lstStyle/>
          <a:p>
            <a:r>
              <a:rPr lang="en-IN" b="1" dirty="0">
                <a:solidFill>
                  <a:schemeClr val="bg1">
                    <a:lumMod val="85000"/>
                  </a:schemeClr>
                </a:solidFill>
                <a:latin typeface="Times New Roman" panose="02020603050405020304" pitchFamily="18" charset="0"/>
                <a:cs typeface="Times New Roman" panose="02020603050405020304" pitchFamily="18" charset="0"/>
              </a:rPr>
              <a:t>Project Modules</a:t>
            </a:r>
            <a:endParaRPr b="1" dirty="0">
              <a:solidFill>
                <a:schemeClr val="bg1">
                  <a:lumMod val="8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38639C-891C-CE32-3E52-794694231FD8}"/>
              </a:ext>
            </a:extLst>
          </p:cNvPr>
          <p:cNvSpPr>
            <a:spLocks noGrp="1"/>
          </p:cNvSpPr>
          <p:nvPr>
            <p:ph idx="1"/>
          </p:nvPr>
        </p:nvSpPr>
        <p:spPr>
          <a:xfrm>
            <a:off x="540335" y="2533780"/>
            <a:ext cx="6591985" cy="3777622"/>
          </a:xfrm>
        </p:spPr>
        <p:txBody>
          <a:bodyPr/>
          <a:lstStyle/>
          <a:p>
            <a:pPr marL="347472" indent="-347472" algn="l" rtl="0" eaLnBrk="1" latinLnBrk="0" hangingPunct="1">
              <a:spcBef>
                <a:spcPts val="1000"/>
              </a:spcBef>
              <a:buClr>
                <a:schemeClr val="accent1"/>
              </a:buClr>
              <a:buSzPts val="1800"/>
              <a:buFont typeface="Wingdings 3" panose="05040102010807070707" pitchFamily="18" charset="2"/>
              <a:buChar char="´"/>
            </a:pPr>
            <a:r>
              <a:rPr lang="en-IN" sz="1800" b="1" kern="1200" dirty="0">
                <a:solidFill>
                  <a:srgbClr val="404040"/>
                </a:solidFill>
                <a:effectLst/>
                <a:latin typeface="Century Gothic" panose="020B0502020202020204" pitchFamily="34" charset="0"/>
                <a:ea typeface="+mn-ea"/>
                <a:cs typeface="+mn-cs"/>
              </a:rPr>
              <a:t>Data Integration Module</a:t>
            </a:r>
            <a:endParaRPr lang="en-IN" b="1" dirty="0"/>
          </a:p>
          <a:p>
            <a:pPr marL="347472" indent="-347472" algn="l" rtl="0" eaLnBrk="1" latinLnBrk="0" hangingPunct="1">
              <a:spcBef>
                <a:spcPts val="1000"/>
              </a:spcBef>
              <a:buClr>
                <a:schemeClr val="accent1"/>
              </a:buClr>
              <a:buSzPts val="1800"/>
              <a:buFont typeface="Wingdings 3" panose="05040102010807070707" pitchFamily="18" charset="2"/>
              <a:buChar char="´"/>
            </a:pPr>
            <a:r>
              <a:rPr lang="en-IN" sz="1800" b="1" kern="1200" dirty="0">
                <a:solidFill>
                  <a:srgbClr val="404040"/>
                </a:solidFill>
                <a:effectLst/>
                <a:latin typeface="Century Gothic" panose="020B0502020202020204" pitchFamily="34" charset="0"/>
                <a:ea typeface="+mn-ea"/>
                <a:cs typeface="+mn-cs"/>
              </a:rPr>
              <a:t>Machine Learning Model Module</a:t>
            </a:r>
            <a:endParaRPr lang="en-IN" b="1" dirty="0"/>
          </a:p>
          <a:p>
            <a:pPr marL="347472" indent="-347472" algn="l" rtl="0" eaLnBrk="1" latinLnBrk="0" hangingPunct="1">
              <a:spcBef>
                <a:spcPts val="1000"/>
              </a:spcBef>
            </a:pPr>
            <a:r>
              <a:rPr lang="en-IN" sz="1800" b="1" kern="1200" dirty="0">
                <a:solidFill>
                  <a:srgbClr val="404040"/>
                </a:solidFill>
                <a:effectLst/>
                <a:latin typeface="Century Gothic" panose="020B0502020202020204" pitchFamily="34" charset="0"/>
                <a:ea typeface="+mn-ea"/>
                <a:cs typeface="+mn-cs"/>
              </a:rPr>
              <a:t>Real-Time Analysis Module</a:t>
            </a:r>
            <a:endParaRPr lang="en-IN" b="1" dirty="0"/>
          </a:p>
          <a:p>
            <a:pPr marL="347472" indent="-347472" algn="l" rtl="0" eaLnBrk="1" latinLnBrk="0" hangingPunct="1">
              <a:spcBef>
                <a:spcPts val="1000"/>
              </a:spcBef>
            </a:pPr>
            <a:r>
              <a:rPr lang="en-IN" sz="1800" b="1" kern="1200" dirty="0">
                <a:solidFill>
                  <a:srgbClr val="404040"/>
                </a:solidFill>
                <a:effectLst/>
                <a:latin typeface="Century Gothic" panose="020B0502020202020204" pitchFamily="34" charset="0"/>
                <a:ea typeface="+mn-ea"/>
                <a:cs typeface="+mn-cs"/>
              </a:rPr>
              <a:t>User Interface Module</a:t>
            </a:r>
            <a:endParaRPr lang="en-IN" b="1" dirty="0">
              <a:effectLst/>
            </a:endParaRPr>
          </a:p>
        </p:txBody>
      </p:sp>
      <p:sp>
        <p:nvSpPr>
          <p:cNvPr id="8" name="Slide Number Placeholder 7">
            <a:extLst>
              <a:ext uri="{FF2B5EF4-FFF2-40B4-BE49-F238E27FC236}">
                <a16:creationId xmlns:a16="http://schemas.microsoft.com/office/drawing/2014/main" id="{2C17C8C5-7E6A-8F26-D691-5B2DCB4CFCE8}"/>
              </a:ext>
            </a:extLst>
          </p:cNvPr>
          <p:cNvSpPr>
            <a:spLocks noGrp="1"/>
          </p:cNvSpPr>
          <p:nvPr>
            <p:ph type="sldNum" sz="quarter" idx="12"/>
          </p:nvPr>
        </p:nvSpPr>
        <p:spPr/>
        <p:txBody>
          <a:bodyPr/>
          <a:lstStyle/>
          <a:p>
            <a:fld id="{C1FF6DA9-008F-8B48-92A6-B652298478BF}" type="slidenum">
              <a:rPr lang="en-US" smtClean="0"/>
              <a:t>10</a:t>
            </a:fld>
            <a:endParaRPr lang="en-US"/>
          </a:p>
        </p:txBody>
      </p:sp>
      <p:pic>
        <p:nvPicPr>
          <p:cNvPr id="5" name="image2.png">
            <a:extLst>
              <a:ext uri="{FF2B5EF4-FFF2-40B4-BE49-F238E27FC236}">
                <a16:creationId xmlns:a16="http://schemas.microsoft.com/office/drawing/2014/main" id="{F4AD1B66-C0A7-884A-A50A-944BE72F4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46" y="157967"/>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AFCA5920-F4FB-892E-8D23-C9DCC90A64D4}"/>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spTree>
    <p:extLst>
      <p:ext uri="{BB962C8B-B14F-4D97-AF65-F5344CB8AC3E}">
        <p14:creationId xmlns:p14="http://schemas.microsoft.com/office/powerpoint/2010/main" val="2654032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1D2D5-8F5F-EFC4-D796-49E628E93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66885-231E-93BD-00F9-49323CD1F004}"/>
              </a:ext>
            </a:extLst>
          </p:cNvPr>
          <p:cNvSpPr>
            <a:spLocks noGrp="1"/>
          </p:cNvSpPr>
          <p:nvPr>
            <p:ph type="title"/>
          </p:nvPr>
        </p:nvSpPr>
        <p:spPr/>
        <p:txBody>
          <a:bodyPr/>
          <a:lstStyle/>
          <a:p>
            <a:r>
              <a:rPr lang="en-IN" b="1" dirty="0">
                <a:solidFill>
                  <a:schemeClr val="bg1">
                    <a:lumMod val="85000"/>
                  </a:schemeClr>
                </a:solidFill>
                <a:latin typeface="Times New Roman" panose="02020603050405020304" pitchFamily="18" charset="0"/>
                <a:cs typeface="Times New Roman" panose="02020603050405020304" pitchFamily="18" charset="0"/>
              </a:rPr>
              <a:t>Use Case Diagram</a:t>
            </a:r>
            <a:endParaRPr b="1" dirty="0">
              <a:solidFill>
                <a:schemeClr val="bg1">
                  <a:lumMod val="85000"/>
                </a:schemeClr>
              </a:solidFill>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46CA7A4B-8AE6-D43E-953A-94B92F4A16BB}"/>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6" name="Text Box 13">
            <a:extLst>
              <a:ext uri="{FF2B5EF4-FFF2-40B4-BE49-F238E27FC236}">
                <a16:creationId xmlns:a16="http://schemas.microsoft.com/office/drawing/2014/main" id="{17C1E590-FDF7-5A3F-8CD2-1DA8A70D1B54}"/>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pic>
        <p:nvPicPr>
          <p:cNvPr id="12" name="Image 19">
            <a:extLst>
              <a:ext uri="{FF2B5EF4-FFF2-40B4-BE49-F238E27FC236}">
                <a16:creationId xmlns:a16="http://schemas.microsoft.com/office/drawing/2014/main" id="{52ED10C1-DD0D-9258-132D-3C3EC7B50E90}"/>
              </a:ext>
            </a:extLst>
          </p:cNvPr>
          <p:cNvPicPr>
            <a:picLocks/>
          </p:cNvPicPr>
          <p:nvPr/>
        </p:nvPicPr>
        <p:blipFill>
          <a:blip r:embed="rId2" cstate="print"/>
          <a:stretch>
            <a:fillRect/>
          </a:stretch>
        </p:blipFill>
        <p:spPr>
          <a:xfrm>
            <a:off x="559985" y="2536192"/>
            <a:ext cx="8024030" cy="3394710"/>
          </a:xfrm>
          <a:prstGeom prst="rect">
            <a:avLst/>
          </a:prstGeom>
        </p:spPr>
      </p:pic>
      <p:pic>
        <p:nvPicPr>
          <p:cNvPr id="3" name="image2.png">
            <a:extLst>
              <a:ext uri="{FF2B5EF4-FFF2-40B4-BE49-F238E27FC236}">
                <a16:creationId xmlns:a16="http://schemas.microsoft.com/office/drawing/2014/main" id="{CC80ED78-A89F-1223-7ABB-6A10C3846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46" y="157967"/>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3921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75A64-689B-FA19-FF0A-84F32EBAB2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77A07-67AF-034F-7AAF-68F7DA90D9D5}"/>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ER Diagram</a:t>
            </a:r>
            <a:endParaRPr b="1"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A9883564-FACA-A4FB-7E67-9DDB40D76288}"/>
              </a:ext>
            </a:extLst>
          </p:cNvPr>
          <p:cNvSpPr>
            <a:spLocks noGrp="1"/>
          </p:cNvSpPr>
          <p:nvPr>
            <p:ph type="sldNum" sz="quarter" idx="12"/>
          </p:nvPr>
        </p:nvSpPr>
        <p:spPr/>
        <p:txBody>
          <a:bodyPr/>
          <a:lstStyle/>
          <a:p>
            <a:fld id="{C1FF6DA9-008F-8B48-92A6-B652298478BF}" type="slidenum">
              <a:rPr lang="en-US" smtClean="0"/>
              <a:t>12</a:t>
            </a:fld>
            <a:endParaRPr lang="en-US"/>
          </a:p>
        </p:txBody>
      </p:sp>
      <p:pic>
        <p:nvPicPr>
          <p:cNvPr id="5" name="image2.png">
            <a:extLst>
              <a:ext uri="{FF2B5EF4-FFF2-40B4-BE49-F238E27FC236}">
                <a16:creationId xmlns:a16="http://schemas.microsoft.com/office/drawing/2014/main" id="{C772E5A8-D404-F2D1-1047-9E5ADB5FF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2792"/>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1629C7B7-8765-8A09-151B-054B6C2CD458}"/>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pic>
        <p:nvPicPr>
          <p:cNvPr id="9" name="Image 28">
            <a:extLst>
              <a:ext uri="{FF2B5EF4-FFF2-40B4-BE49-F238E27FC236}">
                <a16:creationId xmlns:a16="http://schemas.microsoft.com/office/drawing/2014/main" id="{3BFE46DD-DEB6-F892-E863-F9C8F5DA1DFC}"/>
              </a:ext>
            </a:extLst>
          </p:cNvPr>
          <p:cNvPicPr>
            <a:picLocks/>
          </p:cNvPicPr>
          <p:nvPr/>
        </p:nvPicPr>
        <p:blipFill>
          <a:blip r:embed="rId3" cstate="print"/>
          <a:stretch>
            <a:fillRect/>
          </a:stretch>
        </p:blipFill>
        <p:spPr>
          <a:xfrm>
            <a:off x="925562" y="2147682"/>
            <a:ext cx="7530999" cy="4414587"/>
          </a:xfrm>
          <a:prstGeom prst="rect">
            <a:avLst/>
          </a:prstGeom>
        </p:spPr>
      </p:pic>
    </p:spTree>
    <p:extLst>
      <p:ext uri="{BB962C8B-B14F-4D97-AF65-F5344CB8AC3E}">
        <p14:creationId xmlns:p14="http://schemas.microsoft.com/office/powerpoint/2010/main" val="716768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137A4-2B84-DEF5-A38A-9F44AB63E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F96C3-718E-F88C-2E19-73F41F65F898}"/>
              </a:ext>
            </a:extLst>
          </p:cNvPr>
          <p:cNvSpPr>
            <a:spLocks noGrp="1"/>
          </p:cNvSpPr>
          <p:nvPr>
            <p:ph type="title"/>
          </p:nvPr>
        </p:nvSpPr>
        <p:spPr>
          <a:xfrm>
            <a:off x="678231" y="594614"/>
            <a:ext cx="6589199" cy="1280890"/>
          </a:xfrm>
        </p:spPr>
        <p:txBody>
          <a:bodyPr/>
          <a:lstStyle/>
          <a:p>
            <a:r>
              <a:rPr lang="en-IN" b="1" dirty="0">
                <a:latin typeface="Times New Roman" panose="02020603050405020304" pitchFamily="18" charset="0"/>
                <a:cs typeface="Times New Roman" panose="02020603050405020304" pitchFamily="18" charset="0"/>
              </a:rPr>
              <a:t>Requirements</a:t>
            </a:r>
            <a:endParaRPr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4C6E78-1F2A-8813-2C32-571AD7873B31}"/>
              </a:ext>
            </a:extLst>
          </p:cNvPr>
          <p:cNvSpPr>
            <a:spLocks noGrp="1"/>
          </p:cNvSpPr>
          <p:nvPr>
            <p:ph idx="1"/>
          </p:nvPr>
        </p:nvSpPr>
        <p:spPr>
          <a:xfrm>
            <a:off x="678231" y="2275526"/>
            <a:ext cx="7250427" cy="3987860"/>
          </a:xfrm>
        </p:spPr>
        <p:txBody>
          <a:bodyPr>
            <a:normAutofit/>
          </a:bodyPr>
          <a:lstStyle/>
          <a:p>
            <a:pPr marL="0" lvl="0" indent="0">
              <a:spcBef>
                <a:spcPts val="1000"/>
              </a:spcBef>
              <a:buSzPts val="1100"/>
              <a:buNone/>
              <a:tabLst>
                <a:tab pos="932180" algn="l"/>
              </a:tabLst>
            </a:pPr>
            <a:r>
              <a:rPr lang="en-US" sz="2000" b="1" spc="0" dirty="0">
                <a:solidFill>
                  <a:schemeClr val="tx1"/>
                </a:solidFill>
                <a:effectLst/>
                <a:latin typeface="Times New Roman" panose="02020603050405020304" pitchFamily="18" charset="0"/>
                <a:ea typeface="Times New Roman" panose="02020603050405020304" pitchFamily="18" charset="0"/>
              </a:rPr>
              <a:t>Software</a:t>
            </a:r>
            <a:r>
              <a:rPr lang="en-US" sz="2000" b="1" spc="265" dirty="0">
                <a:solidFill>
                  <a:schemeClr val="tx1"/>
                </a:solidFill>
                <a:effectLst/>
                <a:latin typeface="Times New Roman" panose="02020603050405020304" pitchFamily="18" charset="0"/>
                <a:ea typeface="Times New Roman" panose="02020603050405020304" pitchFamily="18" charset="0"/>
              </a:rPr>
              <a:t> </a:t>
            </a:r>
            <a:r>
              <a:rPr lang="en-US" sz="2000" b="1" spc="-10" dirty="0">
                <a:solidFill>
                  <a:schemeClr val="tx1"/>
                </a:solidFill>
                <a:effectLst/>
                <a:latin typeface="Times New Roman" panose="02020603050405020304" pitchFamily="18" charset="0"/>
                <a:ea typeface="Times New Roman" panose="02020603050405020304" pitchFamily="18" charset="0"/>
              </a:rPr>
              <a:t>Requirements:</a:t>
            </a:r>
            <a:endParaRPr lang="en-IN" sz="2000" b="1"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990"/>
              </a:spcBef>
              <a:buSzPts val="1000"/>
              <a:buFont typeface="Times New Roman" panose="02020603050405020304" pitchFamily="18" charset="0"/>
              <a:buAutoNum type="romanLcPeriod"/>
              <a:tabLst>
                <a:tab pos="1576070" algn="l"/>
              </a:tabLst>
            </a:pPr>
            <a:r>
              <a:rPr lang="en-US" b="1" spc="0" dirty="0">
                <a:solidFill>
                  <a:schemeClr val="tx1"/>
                </a:solidFill>
                <a:effectLst/>
                <a:latin typeface="Times New Roman" panose="02020603050405020304" pitchFamily="18" charset="0"/>
                <a:ea typeface="Times New Roman" panose="02020603050405020304" pitchFamily="18" charset="0"/>
              </a:rPr>
              <a:t>Operating</a:t>
            </a:r>
            <a:r>
              <a:rPr lang="en-US" b="1" spc="110" dirty="0">
                <a:solidFill>
                  <a:schemeClr val="tx1"/>
                </a:solidFill>
                <a:effectLst/>
                <a:latin typeface="Times New Roman" panose="02020603050405020304" pitchFamily="18" charset="0"/>
                <a:ea typeface="Times New Roman" panose="02020603050405020304" pitchFamily="18" charset="0"/>
              </a:rPr>
              <a:t> </a:t>
            </a:r>
            <a:r>
              <a:rPr lang="en-US" b="1" spc="0" dirty="0">
                <a:solidFill>
                  <a:schemeClr val="tx1"/>
                </a:solidFill>
                <a:effectLst/>
                <a:latin typeface="Times New Roman" panose="02020603050405020304" pitchFamily="18" charset="0"/>
                <a:ea typeface="Times New Roman" panose="02020603050405020304" pitchFamily="18" charset="0"/>
              </a:rPr>
              <a:t>System:</a:t>
            </a:r>
            <a:r>
              <a:rPr lang="en-US" b="1" spc="10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Android</a:t>
            </a:r>
            <a:r>
              <a:rPr lang="en-US" spc="11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8.0</a:t>
            </a:r>
            <a:r>
              <a:rPr lang="en-US" spc="11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(Oreo)</a:t>
            </a:r>
            <a:r>
              <a:rPr lang="en-US" spc="11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or</a:t>
            </a:r>
            <a:r>
              <a:rPr lang="en-US" spc="110" dirty="0">
                <a:solidFill>
                  <a:schemeClr val="tx1"/>
                </a:solidFill>
                <a:effectLst/>
                <a:latin typeface="Times New Roman" panose="02020603050405020304" pitchFamily="18" charset="0"/>
                <a:ea typeface="Times New Roman" panose="02020603050405020304" pitchFamily="18" charset="0"/>
              </a:rPr>
              <a:t> </a:t>
            </a:r>
            <a:r>
              <a:rPr lang="en-US" spc="-10" dirty="0">
                <a:solidFill>
                  <a:schemeClr val="tx1"/>
                </a:solidFill>
                <a:effectLst/>
                <a:latin typeface="Times New Roman" panose="02020603050405020304" pitchFamily="18" charset="0"/>
                <a:ea typeface="Times New Roman" panose="02020603050405020304" pitchFamily="18" charset="0"/>
              </a:rPr>
              <a:t>later</a:t>
            </a:r>
            <a:endParaRPr lang="en-IN" sz="2400"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950"/>
              </a:spcBef>
              <a:buSzPts val="1000"/>
              <a:buFont typeface="Times New Roman" panose="02020603050405020304" pitchFamily="18" charset="0"/>
              <a:buAutoNum type="romanLcPeriod"/>
              <a:tabLst>
                <a:tab pos="1575435" algn="l"/>
              </a:tabLst>
            </a:pPr>
            <a:r>
              <a:rPr lang="en-US" b="1" spc="0" dirty="0">
                <a:solidFill>
                  <a:schemeClr val="tx1"/>
                </a:solidFill>
                <a:effectLst/>
                <a:latin typeface="Times New Roman" panose="02020603050405020304" pitchFamily="18" charset="0"/>
                <a:ea typeface="Times New Roman" panose="02020603050405020304" pitchFamily="18" charset="0"/>
              </a:rPr>
              <a:t>Development</a:t>
            </a:r>
            <a:r>
              <a:rPr lang="en-US" b="1" spc="165" dirty="0">
                <a:solidFill>
                  <a:schemeClr val="tx1"/>
                </a:solidFill>
                <a:effectLst/>
                <a:latin typeface="Times New Roman" panose="02020603050405020304" pitchFamily="18" charset="0"/>
                <a:ea typeface="Times New Roman" panose="02020603050405020304" pitchFamily="18" charset="0"/>
              </a:rPr>
              <a:t> </a:t>
            </a:r>
            <a:r>
              <a:rPr lang="en-US" b="1" spc="0" dirty="0">
                <a:solidFill>
                  <a:schemeClr val="tx1"/>
                </a:solidFill>
                <a:effectLst/>
                <a:latin typeface="Times New Roman" panose="02020603050405020304" pitchFamily="18" charset="0"/>
                <a:ea typeface="Times New Roman" panose="02020603050405020304" pitchFamily="18" charset="0"/>
              </a:rPr>
              <a:t>Framework:</a:t>
            </a:r>
            <a:r>
              <a:rPr lang="en-US" b="1" spc="150" dirty="0">
                <a:solidFill>
                  <a:schemeClr val="tx1"/>
                </a:solidFill>
                <a:effectLst/>
                <a:latin typeface="Times New Roman" panose="02020603050405020304" pitchFamily="18" charset="0"/>
                <a:ea typeface="Times New Roman" panose="02020603050405020304" pitchFamily="18" charset="0"/>
              </a:rPr>
              <a:t> </a:t>
            </a:r>
            <a:r>
              <a:rPr lang="en-US" spc="0" dirty="0" err="1">
                <a:solidFill>
                  <a:schemeClr val="tx1"/>
                </a:solidFill>
                <a:effectLst/>
                <a:latin typeface="Times New Roman" panose="02020603050405020304" pitchFamily="18" charset="0"/>
                <a:ea typeface="Times New Roman" panose="02020603050405020304" pitchFamily="18" charset="0"/>
              </a:rPr>
              <a:t>FlutterFlow</a:t>
            </a:r>
            <a:r>
              <a:rPr lang="en-US" spc="170" dirty="0">
                <a:solidFill>
                  <a:schemeClr val="tx1"/>
                </a:solidFill>
                <a:effectLst/>
                <a:latin typeface="Times New Roman" panose="02020603050405020304" pitchFamily="18" charset="0"/>
                <a:ea typeface="Times New Roman" panose="02020603050405020304" pitchFamily="18" charset="0"/>
              </a:rPr>
              <a:t> </a:t>
            </a:r>
            <a:r>
              <a:rPr lang="en-US" spc="-10" dirty="0">
                <a:solidFill>
                  <a:schemeClr val="tx1"/>
                </a:solidFill>
                <a:effectLst/>
                <a:latin typeface="Times New Roman" panose="02020603050405020304" pitchFamily="18" charset="0"/>
                <a:ea typeface="Times New Roman" panose="02020603050405020304" pitchFamily="18" charset="0"/>
              </a:rPr>
              <a:t>(Dart)</a:t>
            </a:r>
            <a:endParaRPr lang="en-IN" sz="2400"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940"/>
              </a:spcBef>
              <a:buSzPts val="1000"/>
              <a:buFont typeface="Times New Roman" panose="02020603050405020304" pitchFamily="18" charset="0"/>
              <a:buAutoNum type="romanLcPeriod"/>
              <a:tabLst>
                <a:tab pos="1575435" algn="l"/>
              </a:tabLst>
            </a:pPr>
            <a:r>
              <a:rPr lang="en-US" b="1" spc="0" dirty="0">
                <a:solidFill>
                  <a:schemeClr val="tx1"/>
                </a:solidFill>
                <a:effectLst/>
                <a:latin typeface="Times New Roman" panose="02020603050405020304" pitchFamily="18" charset="0"/>
                <a:ea typeface="Times New Roman" panose="02020603050405020304" pitchFamily="18" charset="0"/>
              </a:rPr>
              <a:t>Backend:</a:t>
            </a:r>
            <a:r>
              <a:rPr lang="en-US" b="1" spc="12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Firebase</a:t>
            </a:r>
            <a:r>
              <a:rPr lang="en-US" spc="12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(Real-time</a:t>
            </a:r>
            <a:r>
              <a:rPr lang="en-US" spc="13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Database</a:t>
            </a:r>
            <a:r>
              <a:rPr lang="en-US" spc="13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&amp;</a:t>
            </a:r>
            <a:r>
              <a:rPr lang="en-US" spc="145" dirty="0">
                <a:solidFill>
                  <a:schemeClr val="tx1"/>
                </a:solidFill>
                <a:effectLst/>
                <a:latin typeface="Times New Roman" panose="02020603050405020304" pitchFamily="18" charset="0"/>
                <a:ea typeface="Times New Roman" panose="02020603050405020304" pitchFamily="18" charset="0"/>
              </a:rPr>
              <a:t> </a:t>
            </a:r>
            <a:r>
              <a:rPr lang="en-US" spc="-10" dirty="0">
                <a:solidFill>
                  <a:schemeClr val="tx1"/>
                </a:solidFill>
                <a:effectLst/>
                <a:latin typeface="Times New Roman" panose="02020603050405020304" pitchFamily="18" charset="0"/>
                <a:ea typeface="Times New Roman" panose="02020603050405020304" pitchFamily="18" charset="0"/>
              </a:rPr>
              <a:t>Authentication)</a:t>
            </a:r>
            <a:endParaRPr lang="en-IN" sz="2400"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950"/>
              </a:spcBef>
              <a:buSzPts val="1000"/>
              <a:buFont typeface="Times New Roman" panose="02020603050405020304" pitchFamily="18" charset="0"/>
              <a:buAutoNum type="romanLcPeriod"/>
              <a:tabLst>
                <a:tab pos="1575435" algn="l"/>
              </a:tabLst>
            </a:pPr>
            <a:r>
              <a:rPr lang="en-US" b="1" spc="0" dirty="0">
                <a:solidFill>
                  <a:schemeClr val="tx1"/>
                </a:solidFill>
                <a:effectLst/>
                <a:latin typeface="Times New Roman" panose="02020603050405020304" pitchFamily="18" charset="0"/>
                <a:ea typeface="Times New Roman" panose="02020603050405020304" pitchFamily="18" charset="0"/>
              </a:rPr>
              <a:t>Machine</a:t>
            </a:r>
            <a:r>
              <a:rPr lang="en-US" b="1" spc="135" dirty="0">
                <a:solidFill>
                  <a:schemeClr val="tx1"/>
                </a:solidFill>
                <a:effectLst/>
                <a:latin typeface="Times New Roman" panose="02020603050405020304" pitchFamily="18" charset="0"/>
                <a:ea typeface="Times New Roman" panose="02020603050405020304" pitchFamily="18" charset="0"/>
              </a:rPr>
              <a:t> </a:t>
            </a:r>
            <a:r>
              <a:rPr lang="en-US" b="1" spc="0" dirty="0">
                <a:solidFill>
                  <a:schemeClr val="tx1"/>
                </a:solidFill>
                <a:effectLst/>
                <a:latin typeface="Times New Roman" panose="02020603050405020304" pitchFamily="18" charset="0"/>
                <a:ea typeface="Times New Roman" panose="02020603050405020304" pitchFamily="18" charset="0"/>
              </a:rPr>
              <a:t>Learning</a:t>
            </a:r>
            <a:r>
              <a:rPr lang="en-US" b="1" spc="135" dirty="0">
                <a:solidFill>
                  <a:schemeClr val="tx1"/>
                </a:solidFill>
                <a:effectLst/>
                <a:latin typeface="Times New Roman" panose="02020603050405020304" pitchFamily="18" charset="0"/>
                <a:ea typeface="Times New Roman" panose="02020603050405020304" pitchFamily="18" charset="0"/>
              </a:rPr>
              <a:t> </a:t>
            </a:r>
            <a:r>
              <a:rPr lang="en-US" b="1" spc="0" dirty="0">
                <a:solidFill>
                  <a:schemeClr val="tx1"/>
                </a:solidFill>
                <a:effectLst/>
                <a:latin typeface="Times New Roman" panose="02020603050405020304" pitchFamily="18" charset="0"/>
                <a:ea typeface="Times New Roman" panose="02020603050405020304" pitchFamily="18" charset="0"/>
              </a:rPr>
              <a:t>Frameworks:</a:t>
            </a:r>
            <a:r>
              <a:rPr lang="en-US" b="1" spc="12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TensorFlow</a:t>
            </a:r>
            <a:r>
              <a:rPr lang="en-US" spc="12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Lite</a:t>
            </a:r>
            <a:r>
              <a:rPr lang="en-US" spc="12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(for</a:t>
            </a:r>
            <a:r>
              <a:rPr lang="en-US" spc="12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on-device</a:t>
            </a:r>
            <a:r>
              <a:rPr lang="en-US" spc="12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AI</a:t>
            </a:r>
            <a:r>
              <a:rPr lang="en-US" spc="140" dirty="0">
                <a:solidFill>
                  <a:schemeClr val="tx1"/>
                </a:solidFill>
                <a:effectLst/>
                <a:latin typeface="Times New Roman" panose="02020603050405020304" pitchFamily="18" charset="0"/>
                <a:ea typeface="Times New Roman" panose="02020603050405020304" pitchFamily="18" charset="0"/>
              </a:rPr>
              <a:t> </a:t>
            </a:r>
            <a:r>
              <a:rPr lang="en-US" spc="-10" dirty="0">
                <a:solidFill>
                  <a:schemeClr val="tx1"/>
                </a:solidFill>
                <a:effectLst/>
                <a:latin typeface="Times New Roman" panose="02020603050405020304" pitchFamily="18" charset="0"/>
                <a:ea typeface="Times New Roman" panose="02020603050405020304" pitchFamily="18" charset="0"/>
              </a:rPr>
              <a:t>processing)</a:t>
            </a:r>
            <a:endParaRPr lang="en-IN" sz="2400"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935"/>
              </a:spcBef>
              <a:buSzPts val="1000"/>
              <a:buFont typeface="Times New Roman" panose="02020603050405020304" pitchFamily="18" charset="0"/>
              <a:buAutoNum type="romanLcPeriod"/>
              <a:tabLst>
                <a:tab pos="1576705" algn="l"/>
              </a:tabLst>
            </a:pPr>
            <a:r>
              <a:rPr lang="en-US" b="1" spc="0" dirty="0">
                <a:solidFill>
                  <a:schemeClr val="tx1"/>
                </a:solidFill>
                <a:effectLst/>
                <a:latin typeface="Times New Roman" panose="02020603050405020304" pitchFamily="18" charset="0"/>
                <a:ea typeface="Times New Roman" panose="02020603050405020304" pitchFamily="18" charset="0"/>
              </a:rPr>
              <a:t>Storage</a:t>
            </a:r>
            <a:r>
              <a:rPr lang="en-US" b="1" spc="155" dirty="0">
                <a:solidFill>
                  <a:schemeClr val="tx1"/>
                </a:solidFill>
                <a:effectLst/>
                <a:latin typeface="Times New Roman" panose="02020603050405020304" pitchFamily="18" charset="0"/>
                <a:ea typeface="Times New Roman" panose="02020603050405020304" pitchFamily="18" charset="0"/>
              </a:rPr>
              <a:t> </a:t>
            </a:r>
            <a:r>
              <a:rPr lang="en-US" b="1" spc="0" dirty="0">
                <a:solidFill>
                  <a:schemeClr val="tx1"/>
                </a:solidFill>
                <a:effectLst/>
                <a:latin typeface="Times New Roman" panose="02020603050405020304" pitchFamily="18" charset="0"/>
                <a:ea typeface="Times New Roman" panose="02020603050405020304" pitchFamily="18" charset="0"/>
              </a:rPr>
              <a:t>Requirement:</a:t>
            </a:r>
            <a:r>
              <a:rPr lang="en-US" b="1" spc="15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200MB–500MB</a:t>
            </a:r>
            <a:r>
              <a:rPr lang="en-US" spc="15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(including</a:t>
            </a:r>
            <a:r>
              <a:rPr lang="en-US" spc="15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cached</a:t>
            </a:r>
            <a:r>
              <a:rPr lang="en-US" spc="15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health</a:t>
            </a:r>
            <a:r>
              <a:rPr lang="en-US" spc="155" dirty="0">
                <a:solidFill>
                  <a:schemeClr val="tx1"/>
                </a:solidFill>
                <a:effectLst/>
                <a:latin typeface="Times New Roman" panose="02020603050405020304" pitchFamily="18" charset="0"/>
                <a:ea typeface="Times New Roman" panose="02020603050405020304" pitchFamily="18" charset="0"/>
              </a:rPr>
              <a:t> </a:t>
            </a:r>
            <a:r>
              <a:rPr lang="en-US" spc="-10" dirty="0">
                <a:solidFill>
                  <a:schemeClr val="tx1"/>
                </a:solidFill>
                <a:effectLst/>
                <a:latin typeface="Times New Roman" panose="02020603050405020304" pitchFamily="18" charset="0"/>
                <a:ea typeface="Times New Roman" panose="02020603050405020304" pitchFamily="18" charset="0"/>
              </a:rPr>
              <a:t>data)</a:t>
            </a:r>
            <a:endParaRPr lang="en-IN" sz="2400"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950"/>
              </a:spcBef>
              <a:buSzPts val="1000"/>
              <a:buFont typeface="Times New Roman" panose="02020603050405020304" pitchFamily="18" charset="0"/>
              <a:buAutoNum type="romanLcPeriod"/>
              <a:tabLst>
                <a:tab pos="1575435" algn="l"/>
              </a:tabLst>
            </a:pPr>
            <a:r>
              <a:rPr lang="en-US" b="1" spc="0" dirty="0">
                <a:solidFill>
                  <a:schemeClr val="tx1"/>
                </a:solidFill>
                <a:effectLst/>
                <a:latin typeface="Times New Roman" panose="02020603050405020304" pitchFamily="18" charset="0"/>
                <a:ea typeface="Times New Roman" panose="02020603050405020304" pitchFamily="18" charset="0"/>
              </a:rPr>
              <a:t>APIs</a:t>
            </a:r>
            <a:r>
              <a:rPr lang="en-US" b="1" spc="55" dirty="0">
                <a:solidFill>
                  <a:schemeClr val="tx1"/>
                </a:solidFill>
                <a:effectLst/>
                <a:latin typeface="Times New Roman" panose="02020603050405020304" pitchFamily="18" charset="0"/>
                <a:ea typeface="Times New Roman" panose="02020603050405020304" pitchFamily="18" charset="0"/>
              </a:rPr>
              <a:t> </a:t>
            </a:r>
            <a:r>
              <a:rPr lang="en-US" b="1" spc="0" dirty="0">
                <a:solidFill>
                  <a:schemeClr val="tx1"/>
                </a:solidFill>
                <a:effectLst/>
                <a:latin typeface="Times New Roman" panose="02020603050405020304" pitchFamily="18" charset="0"/>
                <a:ea typeface="Times New Roman" panose="02020603050405020304" pitchFamily="18" charset="0"/>
              </a:rPr>
              <a:t>&amp;</a:t>
            </a:r>
            <a:r>
              <a:rPr lang="en-US" b="1" spc="45" dirty="0">
                <a:solidFill>
                  <a:schemeClr val="tx1"/>
                </a:solidFill>
                <a:effectLst/>
                <a:latin typeface="Times New Roman" panose="02020603050405020304" pitchFamily="18" charset="0"/>
                <a:ea typeface="Times New Roman" panose="02020603050405020304" pitchFamily="18" charset="0"/>
              </a:rPr>
              <a:t> </a:t>
            </a:r>
            <a:r>
              <a:rPr lang="en-US" b="1" spc="-10" dirty="0">
                <a:solidFill>
                  <a:schemeClr val="tx1"/>
                </a:solidFill>
                <a:effectLst/>
                <a:latin typeface="Times New Roman" panose="02020603050405020304" pitchFamily="18" charset="0"/>
                <a:ea typeface="Times New Roman" panose="02020603050405020304" pitchFamily="18" charset="0"/>
              </a:rPr>
              <a:t>SDKs:</a:t>
            </a:r>
            <a:endParaRPr lang="en-IN" b="1" spc="0" dirty="0">
              <a:solidFill>
                <a:schemeClr val="tx1"/>
              </a:solidFill>
              <a:effectLst/>
              <a:latin typeface="Times New Roman" panose="02020603050405020304" pitchFamily="18" charset="0"/>
              <a:ea typeface="Times New Roman" panose="02020603050405020304" pitchFamily="18" charset="0"/>
            </a:endParaRPr>
          </a:p>
          <a:p>
            <a:pPr marL="1143000" lvl="2" indent="-228600">
              <a:spcBef>
                <a:spcPts val="950"/>
              </a:spcBef>
              <a:buSzPts val="900"/>
              <a:buFont typeface="Times New Roman" panose="02020603050405020304" pitchFamily="18" charset="0"/>
              <a:buAutoNum type="arabicPeriod"/>
              <a:tabLst>
                <a:tab pos="1952625" algn="l"/>
              </a:tabLst>
            </a:pPr>
            <a:r>
              <a:rPr lang="en-US" sz="1600" spc="0" dirty="0">
                <a:solidFill>
                  <a:schemeClr val="tx1"/>
                </a:solidFill>
                <a:effectLst/>
                <a:latin typeface="Times New Roman" panose="02020603050405020304" pitchFamily="18" charset="0"/>
                <a:ea typeface="Times New Roman" panose="02020603050405020304" pitchFamily="18" charset="0"/>
              </a:rPr>
              <a:t>Google</a:t>
            </a:r>
            <a:r>
              <a:rPr lang="en-US" sz="1600" spc="85" dirty="0">
                <a:solidFill>
                  <a:schemeClr val="tx1"/>
                </a:solidFill>
                <a:effectLst/>
                <a:latin typeface="Times New Roman" panose="02020603050405020304" pitchFamily="18" charset="0"/>
                <a:ea typeface="Times New Roman" panose="02020603050405020304" pitchFamily="18" charset="0"/>
              </a:rPr>
              <a:t> </a:t>
            </a:r>
            <a:r>
              <a:rPr lang="en-US" sz="1600" spc="0" dirty="0">
                <a:solidFill>
                  <a:schemeClr val="tx1"/>
                </a:solidFill>
                <a:effectLst/>
                <a:latin typeface="Times New Roman" panose="02020603050405020304" pitchFamily="18" charset="0"/>
                <a:ea typeface="Times New Roman" panose="02020603050405020304" pitchFamily="18" charset="0"/>
              </a:rPr>
              <a:t>Fit</a:t>
            </a:r>
            <a:r>
              <a:rPr lang="en-US" sz="1600" spc="80" dirty="0">
                <a:solidFill>
                  <a:schemeClr val="tx1"/>
                </a:solidFill>
                <a:effectLst/>
                <a:latin typeface="Times New Roman" panose="02020603050405020304" pitchFamily="18" charset="0"/>
                <a:ea typeface="Times New Roman" panose="02020603050405020304" pitchFamily="18" charset="0"/>
              </a:rPr>
              <a:t> </a:t>
            </a:r>
            <a:r>
              <a:rPr lang="en-US" sz="1600" spc="0" dirty="0">
                <a:solidFill>
                  <a:schemeClr val="tx1"/>
                </a:solidFill>
                <a:effectLst/>
                <a:latin typeface="Times New Roman" panose="02020603050405020304" pitchFamily="18" charset="0"/>
                <a:ea typeface="Times New Roman" panose="02020603050405020304" pitchFamily="18" charset="0"/>
              </a:rPr>
              <a:t>API</a:t>
            </a:r>
            <a:r>
              <a:rPr lang="en-US" sz="1600" spc="90" dirty="0">
                <a:solidFill>
                  <a:schemeClr val="tx1"/>
                </a:solidFill>
                <a:effectLst/>
                <a:latin typeface="Times New Roman" panose="02020603050405020304" pitchFamily="18" charset="0"/>
                <a:ea typeface="Times New Roman" panose="02020603050405020304" pitchFamily="18" charset="0"/>
              </a:rPr>
              <a:t> </a:t>
            </a:r>
            <a:r>
              <a:rPr lang="en-US" sz="1600" spc="0" dirty="0">
                <a:solidFill>
                  <a:schemeClr val="tx1"/>
                </a:solidFill>
                <a:effectLst/>
                <a:latin typeface="Times New Roman" panose="02020603050405020304" pitchFamily="18" charset="0"/>
                <a:ea typeface="Times New Roman" panose="02020603050405020304" pitchFamily="18" charset="0"/>
              </a:rPr>
              <a:t>(for</a:t>
            </a:r>
            <a:r>
              <a:rPr lang="en-US" sz="1600" spc="95" dirty="0">
                <a:solidFill>
                  <a:schemeClr val="tx1"/>
                </a:solidFill>
                <a:effectLst/>
                <a:latin typeface="Times New Roman" panose="02020603050405020304" pitchFamily="18" charset="0"/>
                <a:ea typeface="Times New Roman" panose="02020603050405020304" pitchFamily="18" charset="0"/>
              </a:rPr>
              <a:t> </a:t>
            </a:r>
            <a:r>
              <a:rPr lang="en-US" sz="1600" spc="0" dirty="0">
                <a:solidFill>
                  <a:schemeClr val="tx1"/>
                </a:solidFill>
                <a:effectLst/>
                <a:latin typeface="Times New Roman" panose="02020603050405020304" pitchFamily="18" charset="0"/>
                <a:ea typeface="Times New Roman" panose="02020603050405020304" pitchFamily="18" charset="0"/>
              </a:rPr>
              <a:t>health</a:t>
            </a:r>
            <a:r>
              <a:rPr lang="en-US" sz="1600" spc="100" dirty="0">
                <a:solidFill>
                  <a:schemeClr val="tx1"/>
                </a:solidFill>
                <a:effectLst/>
                <a:latin typeface="Times New Roman" panose="02020603050405020304" pitchFamily="18" charset="0"/>
                <a:ea typeface="Times New Roman" panose="02020603050405020304" pitchFamily="18" charset="0"/>
              </a:rPr>
              <a:t> </a:t>
            </a:r>
            <a:r>
              <a:rPr lang="en-US" sz="1600" spc="0" dirty="0">
                <a:solidFill>
                  <a:schemeClr val="tx1"/>
                </a:solidFill>
                <a:effectLst/>
                <a:latin typeface="Times New Roman" panose="02020603050405020304" pitchFamily="18" charset="0"/>
                <a:ea typeface="Times New Roman" panose="02020603050405020304" pitchFamily="18" charset="0"/>
              </a:rPr>
              <a:t>data</a:t>
            </a:r>
            <a:r>
              <a:rPr lang="en-US" sz="1600" spc="85" dirty="0">
                <a:solidFill>
                  <a:schemeClr val="tx1"/>
                </a:solidFill>
                <a:effectLst/>
                <a:latin typeface="Times New Roman" panose="02020603050405020304" pitchFamily="18" charset="0"/>
                <a:ea typeface="Times New Roman" panose="02020603050405020304" pitchFamily="18" charset="0"/>
              </a:rPr>
              <a:t> </a:t>
            </a:r>
            <a:r>
              <a:rPr lang="en-US" sz="1600" spc="-10" dirty="0">
                <a:solidFill>
                  <a:schemeClr val="tx1"/>
                </a:solidFill>
                <a:effectLst/>
                <a:latin typeface="Times New Roman" panose="02020603050405020304" pitchFamily="18" charset="0"/>
                <a:ea typeface="Times New Roman" panose="02020603050405020304" pitchFamily="18" charset="0"/>
              </a:rPr>
              <a:t>access)</a:t>
            </a:r>
            <a:endParaRPr lang="en-IN" sz="2000" spc="0" dirty="0">
              <a:solidFill>
                <a:schemeClr val="tx1"/>
              </a:solidFill>
              <a:effectLst/>
              <a:latin typeface="Times New Roman" panose="02020603050405020304" pitchFamily="18" charset="0"/>
              <a:ea typeface="Times New Roman" panose="02020603050405020304" pitchFamily="18" charset="0"/>
            </a:endParaRPr>
          </a:p>
        </p:txBody>
      </p:sp>
      <p:sp>
        <p:nvSpPr>
          <p:cNvPr id="8" name="Slide Number Placeholder 7">
            <a:extLst>
              <a:ext uri="{FF2B5EF4-FFF2-40B4-BE49-F238E27FC236}">
                <a16:creationId xmlns:a16="http://schemas.microsoft.com/office/drawing/2014/main" id="{1ADBB6B1-1813-DE00-F504-241644E416F7}"/>
              </a:ext>
            </a:extLst>
          </p:cNvPr>
          <p:cNvSpPr>
            <a:spLocks noGrp="1"/>
          </p:cNvSpPr>
          <p:nvPr>
            <p:ph type="sldNum" sz="quarter" idx="12"/>
          </p:nvPr>
        </p:nvSpPr>
        <p:spPr/>
        <p:txBody>
          <a:bodyPr/>
          <a:lstStyle/>
          <a:p>
            <a:fld id="{C1FF6DA9-008F-8B48-92A6-B652298478BF}" type="slidenum">
              <a:rPr lang="en-US" smtClean="0"/>
              <a:t>13</a:t>
            </a:fld>
            <a:endParaRPr lang="en-US"/>
          </a:p>
        </p:txBody>
      </p:sp>
      <p:sp>
        <p:nvSpPr>
          <p:cNvPr id="6" name="Text Box 13">
            <a:extLst>
              <a:ext uri="{FF2B5EF4-FFF2-40B4-BE49-F238E27FC236}">
                <a16:creationId xmlns:a16="http://schemas.microsoft.com/office/drawing/2014/main" id="{CDD031C3-BB9E-2E47-FA3F-0AD953770FDA}"/>
              </a:ext>
            </a:extLst>
          </p:cNvPr>
          <p:cNvSpPr txBox="1">
            <a:spLocks noChangeArrowheads="1"/>
          </p:cNvSpPr>
          <p:nvPr/>
        </p:nvSpPr>
        <p:spPr bwMode="auto">
          <a:xfrm>
            <a:off x="847725" y="6453170"/>
            <a:ext cx="7686675" cy="254558"/>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50" b="1" dirty="0">
                <a:solidFill>
                  <a:schemeClr val="accent2"/>
                </a:solidFill>
                <a:latin typeface="Arial" charset="0"/>
              </a:rPr>
              <a:t>PARUL INSTITUTE OF TECHNOLOGY, PARUL UNIVERSITY</a:t>
            </a:r>
          </a:p>
        </p:txBody>
      </p:sp>
      <p:pic>
        <p:nvPicPr>
          <p:cNvPr id="4" name="image2.png">
            <a:extLst>
              <a:ext uri="{FF2B5EF4-FFF2-40B4-BE49-F238E27FC236}">
                <a16:creationId xmlns:a16="http://schemas.microsoft.com/office/drawing/2014/main" id="{AB9AAB9B-53AC-448F-D72F-53E74B4BC9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46" y="157967"/>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9917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86D99-CC84-4C03-7EB1-131B6912C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FFD1D-A7C5-87D1-9846-9BFB4F7DB967}"/>
              </a:ext>
            </a:extLst>
          </p:cNvPr>
          <p:cNvSpPr>
            <a:spLocks noGrp="1"/>
          </p:cNvSpPr>
          <p:nvPr>
            <p:ph type="title"/>
          </p:nvPr>
        </p:nvSpPr>
        <p:spPr>
          <a:xfrm>
            <a:off x="678231" y="594614"/>
            <a:ext cx="6589199" cy="1280890"/>
          </a:xfrm>
        </p:spPr>
        <p:txBody>
          <a:bodyPr/>
          <a:lstStyle/>
          <a:p>
            <a:r>
              <a:rPr lang="en-IN" b="1" dirty="0">
                <a:latin typeface="Times New Roman" panose="02020603050405020304" pitchFamily="18" charset="0"/>
                <a:cs typeface="Times New Roman" panose="02020603050405020304" pitchFamily="18" charset="0"/>
              </a:rPr>
              <a:t>Requirements</a:t>
            </a:r>
            <a:endParaRPr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F362D4-62C2-8D40-FF13-EECAEB35C95D}"/>
              </a:ext>
            </a:extLst>
          </p:cNvPr>
          <p:cNvSpPr>
            <a:spLocks noGrp="1"/>
          </p:cNvSpPr>
          <p:nvPr>
            <p:ph idx="1"/>
          </p:nvPr>
        </p:nvSpPr>
        <p:spPr>
          <a:xfrm>
            <a:off x="678231" y="2275526"/>
            <a:ext cx="7250427" cy="3987860"/>
          </a:xfrm>
        </p:spPr>
        <p:txBody>
          <a:bodyPr>
            <a:normAutofit/>
          </a:bodyPr>
          <a:lstStyle/>
          <a:p>
            <a:pPr marL="0" lvl="0" indent="0">
              <a:spcBef>
                <a:spcPts val="965"/>
              </a:spcBef>
              <a:buSzPts val="1100"/>
              <a:buNone/>
              <a:tabLst>
                <a:tab pos="932180" algn="l"/>
              </a:tabLst>
            </a:pPr>
            <a:r>
              <a:rPr lang="en-US" sz="2400" b="1" spc="0" dirty="0">
                <a:solidFill>
                  <a:schemeClr val="tx1"/>
                </a:solidFill>
                <a:effectLst/>
                <a:latin typeface="Times New Roman" panose="02020603050405020304" pitchFamily="18" charset="0"/>
                <a:ea typeface="Times New Roman" panose="02020603050405020304" pitchFamily="18" charset="0"/>
              </a:rPr>
              <a:t>Hardware</a:t>
            </a:r>
            <a:r>
              <a:rPr lang="en-US" sz="2400" b="1" spc="295" dirty="0">
                <a:solidFill>
                  <a:schemeClr val="tx1"/>
                </a:solidFill>
                <a:effectLst/>
                <a:latin typeface="Times New Roman" panose="02020603050405020304" pitchFamily="18" charset="0"/>
                <a:ea typeface="Times New Roman" panose="02020603050405020304" pitchFamily="18" charset="0"/>
              </a:rPr>
              <a:t> </a:t>
            </a:r>
            <a:r>
              <a:rPr lang="en-US" sz="2400" b="1" spc="-10" dirty="0">
                <a:solidFill>
                  <a:schemeClr val="tx1"/>
                </a:solidFill>
                <a:effectLst/>
                <a:latin typeface="Times New Roman" panose="02020603050405020304" pitchFamily="18" charset="0"/>
                <a:ea typeface="Times New Roman" panose="02020603050405020304" pitchFamily="18" charset="0"/>
              </a:rPr>
              <a:t>Requirements:</a:t>
            </a:r>
            <a:endParaRPr lang="en-IN" sz="2400" b="1" spc="0" dirty="0">
              <a:solidFill>
                <a:schemeClr val="tx1"/>
              </a:solidFill>
              <a:effectLst/>
              <a:latin typeface="Times New Roman" panose="02020603050405020304" pitchFamily="18" charset="0"/>
              <a:ea typeface="Times New Roman" panose="02020603050405020304" pitchFamily="18" charset="0"/>
            </a:endParaRPr>
          </a:p>
          <a:p>
            <a:pPr marL="342900" lvl="0" indent="-342900">
              <a:spcBef>
                <a:spcPts val="855"/>
              </a:spcBef>
              <a:buFont typeface="+mj-lt"/>
              <a:buAutoNum type="alphaLcPeriod"/>
              <a:tabLst>
                <a:tab pos="1361440" algn="l"/>
              </a:tabLst>
            </a:pPr>
            <a:r>
              <a:rPr lang="en-US" sz="1600" b="1" spc="0" dirty="0">
                <a:solidFill>
                  <a:schemeClr val="tx1"/>
                </a:solidFill>
                <a:effectLst/>
                <a:latin typeface="Times New Roman" panose="02020603050405020304" pitchFamily="18" charset="0"/>
                <a:ea typeface="Times New Roman" panose="02020603050405020304" pitchFamily="18" charset="0"/>
              </a:rPr>
              <a:t>Minimum</a:t>
            </a:r>
            <a:r>
              <a:rPr lang="en-US" sz="1600" b="1" spc="115" dirty="0">
                <a:solidFill>
                  <a:schemeClr val="tx1"/>
                </a:solidFill>
                <a:effectLst/>
                <a:latin typeface="Times New Roman" panose="02020603050405020304" pitchFamily="18" charset="0"/>
                <a:ea typeface="Times New Roman" panose="02020603050405020304" pitchFamily="18" charset="0"/>
              </a:rPr>
              <a:t> </a:t>
            </a:r>
            <a:r>
              <a:rPr lang="en-US" sz="1600" b="1" spc="-10" dirty="0">
                <a:solidFill>
                  <a:schemeClr val="tx1"/>
                </a:solidFill>
                <a:effectLst/>
                <a:latin typeface="Times New Roman" panose="02020603050405020304" pitchFamily="18" charset="0"/>
                <a:ea typeface="Times New Roman" panose="02020603050405020304" pitchFamily="18" charset="0"/>
              </a:rPr>
              <a:t>Requirements:</a:t>
            </a:r>
            <a:endParaRPr lang="en-IN" sz="1600" b="1"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845"/>
              </a:spcBef>
              <a:buSzPts val="1000"/>
              <a:buFont typeface="Times New Roman" panose="02020603050405020304" pitchFamily="18" charset="0"/>
              <a:buAutoNum type="romanLcPeriod"/>
              <a:tabLst>
                <a:tab pos="1576070" algn="l"/>
              </a:tabLst>
            </a:pPr>
            <a:r>
              <a:rPr lang="en-US" b="1" spc="0" dirty="0">
                <a:solidFill>
                  <a:schemeClr val="tx1"/>
                </a:solidFill>
                <a:effectLst/>
                <a:latin typeface="Times New Roman" panose="02020603050405020304" pitchFamily="18" charset="0"/>
                <a:ea typeface="Times New Roman" panose="02020603050405020304" pitchFamily="18" charset="0"/>
              </a:rPr>
              <a:t>Operating</a:t>
            </a:r>
            <a:r>
              <a:rPr lang="en-US" b="1" spc="110" dirty="0">
                <a:solidFill>
                  <a:schemeClr val="tx1"/>
                </a:solidFill>
                <a:effectLst/>
                <a:latin typeface="Times New Roman" panose="02020603050405020304" pitchFamily="18" charset="0"/>
                <a:ea typeface="Times New Roman" panose="02020603050405020304" pitchFamily="18" charset="0"/>
              </a:rPr>
              <a:t> </a:t>
            </a:r>
            <a:r>
              <a:rPr lang="en-US" b="1" spc="0" dirty="0">
                <a:solidFill>
                  <a:schemeClr val="tx1"/>
                </a:solidFill>
                <a:effectLst/>
                <a:latin typeface="Times New Roman" panose="02020603050405020304" pitchFamily="18" charset="0"/>
                <a:ea typeface="Times New Roman" panose="02020603050405020304" pitchFamily="18" charset="0"/>
              </a:rPr>
              <a:t>System:</a:t>
            </a:r>
            <a:r>
              <a:rPr lang="en-US" b="1" spc="10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Android</a:t>
            </a:r>
            <a:r>
              <a:rPr lang="en-US" spc="11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8.0</a:t>
            </a:r>
            <a:r>
              <a:rPr lang="en-US" spc="11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(Oreo)</a:t>
            </a:r>
            <a:r>
              <a:rPr lang="en-US" spc="11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or</a:t>
            </a:r>
            <a:r>
              <a:rPr lang="en-US" spc="110" dirty="0">
                <a:solidFill>
                  <a:schemeClr val="tx1"/>
                </a:solidFill>
                <a:effectLst/>
                <a:latin typeface="Times New Roman" panose="02020603050405020304" pitchFamily="18" charset="0"/>
                <a:ea typeface="Times New Roman" panose="02020603050405020304" pitchFamily="18" charset="0"/>
              </a:rPr>
              <a:t> </a:t>
            </a:r>
            <a:r>
              <a:rPr lang="en-US" spc="-10" dirty="0">
                <a:solidFill>
                  <a:schemeClr val="tx1"/>
                </a:solidFill>
                <a:effectLst/>
                <a:latin typeface="Times New Roman" panose="02020603050405020304" pitchFamily="18" charset="0"/>
                <a:ea typeface="Times New Roman" panose="02020603050405020304" pitchFamily="18" charset="0"/>
              </a:rPr>
              <a:t>later</a:t>
            </a:r>
            <a:endParaRPr lang="en-IN" sz="2400"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940"/>
              </a:spcBef>
              <a:buSzPts val="1000"/>
              <a:buFont typeface="Times New Roman" panose="02020603050405020304" pitchFamily="18" charset="0"/>
              <a:buAutoNum type="romanLcPeriod"/>
              <a:tabLst>
                <a:tab pos="1575435" algn="l"/>
              </a:tabLst>
            </a:pPr>
            <a:r>
              <a:rPr lang="en-US" b="1" spc="0" dirty="0">
                <a:solidFill>
                  <a:schemeClr val="tx1"/>
                </a:solidFill>
                <a:effectLst/>
                <a:latin typeface="Times New Roman" panose="02020603050405020304" pitchFamily="18" charset="0"/>
                <a:ea typeface="Times New Roman" panose="02020603050405020304" pitchFamily="18" charset="0"/>
              </a:rPr>
              <a:t>Processor:</a:t>
            </a:r>
            <a:r>
              <a:rPr lang="en-US" b="1" spc="11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Quad-Core</a:t>
            </a:r>
            <a:r>
              <a:rPr lang="en-US" spc="11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(1.8</a:t>
            </a:r>
            <a:r>
              <a:rPr lang="en-US" spc="11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GHz</a:t>
            </a:r>
            <a:r>
              <a:rPr lang="en-US" spc="9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or</a:t>
            </a:r>
            <a:r>
              <a:rPr lang="en-US" spc="100" dirty="0">
                <a:solidFill>
                  <a:schemeClr val="tx1"/>
                </a:solidFill>
                <a:effectLst/>
                <a:latin typeface="Times New Roman" panose="02020603050405020304" pitchFamily="18" charset="0"/>
                <a:ea typeface="Times New Roman" panose="02020603050405020304" pitchFamily="18" charset="0"/>
              </a:rPr>
              <a:t> </a:t>
            </a:r>
            <a:r>
              <a:rPr lang="en-US" spc="-10" dirty="0">
                <a:solidFill>
                  <a:schemeClr val="tx1"/>
                </a:solidFill>
                <a:effectLst/>
                <a:latin typeface="Times New Roman" panose="02020603050405020304" pitchFamily="18" charset="0"/>
                <a:ea typeface="Times New Roman" panose="02020603050405020304" pitchFamily="18" charset="0"/>
              </a:rPr>
              <a:t>higher)</a:t>
            </a:r>
            <a:endParaRPr lang="en-IN" sz="2400"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950"/>
              </a:spcBef>
              <a:buSzPts val="1000"/>
              <a:buFont typeface="Times New Roman" panose="02020603050405020304" pitchFamily="18" charset="0"/>
              <a:buAutoNum type="romanLcPeriod"/>
              <a:tabLst>
                <a:tab pos="1575435" algn="l"/>
              </a:tabLst>
            </a:pPr>
            <a:r>
              <a:rPr lang="en-US" b="1" spc="0" dirty="0">
                <a:solidFill>
                  <a:schemeClr val="tx1"/>
                </a:solidFill>
                <a:effectLst/>
                <a:latin typeface="Times New Roman" panose="02020603050405020304" pitchFamily="18" charset="0"/>
                <a:ea typeface="Times New Roman" panose="02020603050405020304" pitchFamily="18" charset="0"/>
              </a:rPr>
              <a:t>RAM:</a:t>
            </a:r>
            <a:r>
              <a:rPr lang="en-US" b="1" spc="60" dirty="0">
                <a:solidFill>
                  <a:schemeClr val="tx1"/>
                </a:solidFill>
                <a:effectLst/>
                <a:latin typeface="Times New Roman" panose="02020603050405020304" pitchFamily="18" charset="0"/>
                <a:ea typeface="Times New Roman" panose="02020603050405020304" pitchFamily="18" charset="0"/>
              </a:rPr>
              <a:t> </a:t>
            </a:r>
            <a:r>
              <a:rPr lang="en-US" spc="-25" dirty="0">
                <a:solidFill>
                  <a:schemeClr val="tx1"/>
                </a:solidFill>
                <a:effectLst/>
                <a:latin typeface="Times New Roman" panose="02020603050405020304" pitchFamily="18" charset="0"/>
                <a:ea typeface="Times New Roman" panose="02020603050405020304" pitchFamily="18" charset="0"/>
              </a:rPr>
              <a:t>3GB</a:t>
            </a:r>
            <a:endParaRPr lang="en-IN" sz="2400"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940"/>
              </a:spcBef>
              <a:buSzPts val="1000"/>
              <a:buFont typeface="Times New Roman" panose="02020603050405020304" pitchFamily="18" charset="0"/>
              <a:buAutoNum type="romanLcPeriod"/>
              <a:tabLst>
                <a:tab pos="1575435" algn="l"/>
              </a:tabLst>
            </a:pPr>
            <a:r>
              <a:rPr lang="en-US" b="1" spc="0" dirty="0">
                <a:solidFill>
                  <a:schemeClr val="tx1"/>
                </a:solidFill>
                <a:effectLst/>
                <a:latin typeface="Times New Roman" panose="02020603050405020304" pitchFamily="18" charset="0"/>
                <a:ea typeface="Times New Roman" panose="02020603050405020304" pitchFamily="18" charset="0"/>
              </a:rPr>
              <a:t>Storage:</a:t>
            </a:r>
            <a:r>
              <a:rPr lang="en-US" b="1" spc="11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200MB</a:t>
            </a:r>
            <a:r>
              <a:rPr lang="en-US" spc="10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free</a:t>
            </a:r>
            <a:r>
              <a:rPr lang="en-US" spc="120" dirty="0">
                <a:solidFill>
                  <a:schemeClr val="tx1"/>
                </a:solidFill>
                <a:effectLst/>
                <a:latin typeface="Times New Roman" panose="02020603050405020304" pitchFamily="18" charset="0"/>
                <a:ea typeface="Times New Roman" panose="02020603050405020304" pitchFamily="18" charset="0"/>
              </a:rPr>
              <a:t> </a:t>
            </a:r>
            <a:r>
              <a:rPr lang="en-US" spc="-10" dirty="0">
                <a:solidFill>
                  <a:schemeClr val="tx1"/>
                </a:solidFill>
                <a:effectLst/>
                <a:latin typeface="Times New Roman" panose="02020603050405020304" pitchFamily="18" charset="0"/>
                <a:ea typeface="Times New Roman" panose="02020603050405020304" pitchFamily="18" charset="0"/>
              </a:rPr>
              <a:t>space.</a:t>
            </a:r>
            <a:endParaRPr lang="en-IN" sz="2400"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950"/>
              </a:spcBef>
              <a:buSzPts val="1000"/>
              <a:buFont typeface="Times New Roman" panose="02020603050405020304" pitchFamily="18" charset="0"/>
              <a:buAutoNum type="romanLcPeriod"/>
              <a:tabLst>
                <a:tab pos="1576705" algn="l"/>
              </a:tabLst>
            </a:pPr>
            <a:r>
              <a:rPr lang="en-US" b="1" spc="0" dirty="0">
                <a:solidFill>
                  <a:schemeClr val="tx1"/>
                </a:solidFill>
                <a:effectLst/>
                <a:latin typeface="Times New Roman" panose="02020603050405020304" pitchFamily="18" charset="0"/>
                <a:ea typeface="Times New Roman" panose="02020603050405020304" pitchFamily="18" charset="0"/>
              </a:rPr>
              <a:t>Display:</a:t>
            </a:r>
            <a:r>
              <a:rPr lang="en-US" b="1" spc="12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Minimum</a:t>
            </a:r>
            <a:r>
              <a:rPr lang="en-US" spc="13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5.0-inch</a:t>
            </a:r>
            <a:r>
              <a:rPr lang="en-US" spc="11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screen</a:t>
            </a:r>
            <a:r>
              <a:rPr lang="en-US" spc="12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(to</a:t>
            </a:r>
            <a:r>
              <a:rPr lang="en-US" spc="13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ensure</a:t>
            </a:r>
            <a:r>
              <a:rPr lang="en-US" spc="13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readability</a:t>
            </a:r>
            <a:r>
              <a:rPr lang="en-US" spc="12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of</a:t>
            </a:r>
            <a:r>
              <a:rPr lang="en-US" spc="12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health</a:t>
            </a:r>
            <a:r>
              <a:rPr lang="en-US" spc="125" dirty="0">
                <a:solidFill>
                  <a:schemeClr val="tx1"/>
                </a:solidFill>
                <a:effectLst/>
                <a:latin typeface="Times New Roman" panose="02020603050405020304" pitchFamily="18" charset="0"/>
                <a:ea typeface="Times New Roman" panose="02020603050405020304" pitchFamily="18" charset="0"/>
              </a:rPr>
              <a:t> </a:t>
            </a:r>
            <a:r>
              <a:rPr lang="en-US" spc="-10" dirty="0">
                <a:solidFill>
                  <a:schemeClr val="tx1"/>
                </a:solidFill>
                <a:effectLst/>
                <a:latin typeface="Times New Roman" panose="02020603050405020304" pitchFamily="18" charset="0"/>
                <a:ea typeface="Times New Roman" panose="02020603050405020304" pitchFamily="18" charset="0"/>
              </a:rPr>
              <a:t>insights)</a:t>
            </a:r>
            <a:endParaRPr lang="en-IN" sz="2400" spc="0" dirty="0">
              <a:solidFill>
                <a:schemeClr val="tx1"/>
              </a:solidFill>
              <a:effectLst/>
              <a:latin typeface="Times New Roman" panose="02020603050405020304" pitchFamily="18" charset="0"/>
              <a:ea typeface="Times New Roman" panose="02020603050405020304" pitchFamily="18" charset="0"/>
            </a:endParaRPr>
          </a:p>
          <a:p>
            <a:pPr marL="742950" lvl="1" indent="-285750">
              <a:spcBef>
                <a:spcPts val="950"/>
              </a:spcBef>
              <a:buSzPts val="1000"/>
              <a:buFont typeface="Times New Roman" panose="02020603050405020304" pitchFamily="18" charset="0"/>
              <a:buAutoNum type="romanLcPeriod"/>
              <a:tabLst>
                <a:tab pos="1575435" algn="l"/>
              </a:tabLst>
            </a:pPr>
            <a:r>
              <a:rPr lang="en-US" b="1" spc="0" dirty="0">
                <a:solidFill>
                  <a:schemeClr val="tx1"/>
                </a:solidFill>
                <a:effectLst/>
                <a:latin typeface="Times New Roman" panose="02020603050405020304" pitchFamily="18" charset="0"/>
                <a:ea typeface="Times New Roman" panose="02020603050405020304" pitchFamily="18" charset="0"/>
              </a:rPr>
              <a:t>Connectivity:</a:t>
            </a:r>
            <a:r>
              <a:rPr lang="en-US" b="1" spc="115"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Internet</a:t>
            </a:r>
            <a:r>
              <a:rPr lang="en-US" spc="13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access</a:t>
            </a:r>
            <a:r>
              <a:rPr lang="en-US" spc="13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for</a:t>
            </a:r>
            <a:r>
              <a:rPr lang="en-US" spc="14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real-time</a:t>
            </a:r>
            <a:r>
              <a:rPr lang="en-US" spc="140" dirty="0">
                <a:solidFill>
                  <a:schemeClr val="tx1"/>
                </a:solidFill>
                <a:effectLst/>
                <a:latin typeface="Times New Roman" panose="02020603050405020304" pitchFamily="18" charset="0"/>
                <a:ea typeface="Times New Roman" panose="02020603050405020304" pitchFamily="18" charset="0"/>
              </a:rPr>
              <a:t> </a:t>
            </a:r>
            <a:r>
              <a:rPr lang="en-US" spc="0" dirty="0">
                <a:solidFill>
                  <a:schemeClr val="tx1"/>
                </a:solidFill>
                <a:effectLst/>
                <a:latin typeface="Times New Roman" panose="02020603050405020304" pitchFamily="18" charset="0"/>
                <a:ea typeface="Times New Roman" panose="02020603050405020304" pitchFamily="18" charset="0"/>
              </a:rPr>
              <a:t>data</a:t>
            </a:r>
            <a:r>
              <a:rPr lang="en-US" spc="125" dirty="0">
                <a:solidFill>
                  <a:schemeClr val="tx1"/>
                </a:solidFill>
                <a:effectLst/>
                <a:latin typeface="Times New Roman" panose="02020603050405020304" pitchFamily="18" charset="0"/>
                <a:ea typeface="Times New Roman" panose="02020603050405020304" pitchFamily="18" charset="0"/>
              </a:rPr>
              <a:t> </a:t>
            </a:r>
            <a:r>
              <a:rPr lang="en-US" spc="-10" dirty="0">
                <a:solidFill>
                  <a:schemeClr val="tx1"/>
                </a:solidFill>
                <a:effectLst/>
                <a:latin typeface="Times New Roman" panose="02020603050405020304" pitchFamily="18" charset="0"/>
                <a:ea typeface="Times New Roman" panose="02020603050405020304" pitchFamily="18" charset="0"/>
              </a:rPr>
              <a:t>sync.</a:t>
            </a:r>
            <a:endParaRPr lang="en-IN" sz="2400" dirty="0">
              <a:solidFill>
                <a:schemeClr val="tx1"/>
              </a:solidFill>
              <a:latin typeface="Times New Roman" panose="02020603050405020304" pitchFamily="18" charset="0"/>
              <a:ea typeface="Times New Roman" panose="02020603050405020304" pitchFamily="18" charset="0"/>
            </a:endParaRPr>
          </a:p>
          <a:p>
            <a:pPr marL="742950" lvl="1" indent="-285750">
              <a:spcBef>
                <a:spcPts val="950"/>
              </a:spcBef>
              <a:buSzPts val="1000"/>
              <a:buFont typeface="Times New Roman" panose="02020603050405020304" pitchFamily="18" charset="0"/>
              <a:buAutoNum type="romanLcPeriod"/>
              <a:tabLst>
                <a:tab pos="1575435" algn="l"/>
              </a:tabLst>
            </a:pPr>
            <a:r>
              <a:rPr lang="en-US" sz="1600" b="1" dirty="0">
                <a:solidFill>
                  <a:schemeClr val="tx1"/>
                </a:solidFill>
                <a:effectLst/>
                <a:latin typeface="Times New Roman" panose="02020603050405020304" pitchFamily="18" charset="0"/>
                <a:ea typeface="Times New Roman" panose="02020603050405020304" pitchFamily="18" charset="0"/>
              </a:rPr>
              <a:t>Sensors:</a:t>
            </a:r>
            <a:r>
              <a:rPr lang="en-US" sz="1600" b="1" spc="12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Basic</a:t>
            </a:r>
            <a:r>
              <a:rPr lang="en-US" sz="1600" spc="13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health</a:t>
            </a:r>
            <a:r>
              <a:rPr lang="en-US" sz="1600" spc="12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tracking</a:t>
            </a:r>
            <a:r>
              <a:rPr lang="en-US" sz="1600" spc="12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sensors</a:t>
            </a:r>
            <a:r>
              <a:rPr lang="en-US" sz="1600" spc="10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(Heart</a:t>
            </a:r>
            <a:r>
              <a:rPr lang="en-US" sz="1600" spc="140"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rate</a:t>
            </a:r>
            <a:r>
              <a:rPr lang="en-US" sz="1600" spc="10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monitor</a:t>
            </a:r>
            <a:r>
              <a:rPr lang="en-US" sz="1600" spc="12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support,</a:t>
            </a:r>
            <a:r>
              <a:rPr lang="en-US" sz="1600" spc="115" dirty="0">
                <a:solidFill>
                  <a:schemeClr val="tx1"/>
                </a:solidFill>
                <a:effectLst/>
                <a:latin typeface="Times New Roman" panose="02020603050405020304" pitchFamily="18" charset="0"/>
                <a:ea typeface="Times New Roman" panose="02020603050405020304" pitchFamily="18" charset="0"/>
              </a:rPr>
              <a:t> </a:t>
            </a:r>
            <a:r>
              <a:rPr lang="en-US" sz="1600" dirty="0">
                <a:solidFill>
                  <a:schemeClr val="tx1"/>
                </a:solidFill>
                <a:effectLst/>
                <a:latin typeface="Times New Roman" panose="02020603050405020304" pitchFamily="18" charset="0"/>
                <a:ea typeface="Times New Roman" panose="02020603050405020304" pitchFamily="18" charset="0"/>
              </a:rPr>
              <a:t>if</a:t>
            </a:r>
            <a:r>
              <a:rPr lang="en-US" sz="1600" spc="120" dirty="0">
                <a:solidFill>
                  <a:schemeClr val="tx1"/>
                </a:solidFill>
                <a:effectLst/>
                <a:latin typeface="Times New Roman" panose="02020603050405020304" pitchFamily="18" charset="0"/>
                <a:ea typeface="Times New Roman" panose="02020603050405020304" pitchFamily="18" charset="0"/>
              </a:rPr>
              <a:t> </a:t>
            </a:r>
            <a:r>
              <a:rPr lang="en-US" sz="1600" spc="-10" dirty="0">
                <a:solidFill>
                  <a:schemeClr val="tx1"/>
                </a:solidFill>
                <a:effectLst/>
                <a:latin typeface="Times New Roman" panose="02020603050405020304" pitchFamily="18" charset="0"/>
                <a:ea typeface="Times New Roman" panose="02020603050405020304" pitchFamily="18" charset="0"/>
              </a:rPr>
              <a:t>available)</a:t>
            </a:r>
            <a:endParaRPr lang="en-IN" sz="4400" spc="0" dirty="0">
              <a:solidFill>
                <a:schemeClr val="tx1"/>
              </a:solidFill>
              <a:effectLst/>
              <a:latin typeface="Times New Roman" panose="02020603050405020304" pitchFamily="18" charset="0"/>
              <a:ea typeface="Times New Roman" panose="02020603050405020304" pitchFamily="18" charset="0"/>
            </a:endParaRPr>
          </a:p>
        </p:txBody>
      </p:sp>
      <p:sp>
        <p:nvSpPr>
          <p:cNvPr id="8" name="Slide Number Placeholder 7">
            <a:extLst>
              <a:ext uri="{FF2B5EF4-FFF2-40B4-BE49-F238E27FC236}">
                <a16:creationId xmlns:a16="http://schemas.microsoft.com/office/drawing/2014/main" id="{1293C343-3EEA-510A-BBEC-AA3082F0A949}"/>
              </a:ext>
            </a:extLst>
          </p:cNvPr>
          <p:cNvSpPr>
            <a:spLocks noGrp="1"/>
          </p:cNvSpPr>
          <p:nvPr>
            <p:ph type="sldNum" sz="quarter" idx="12"/>
          </p:nvPr>
        </p:nvSpPr>
        <p:spPr/>
        <p:txBody>
          <a:bodyPr/>
          <a:lstStyle/>
          <a:p>
            <a:fld id="{C1FF6DA9-008F-8B48-92A6-B652298478BF}" type="slidenum">
              <a:rPr lang="en-US" smtClean="0"/>
              <a:t>14</a:t>
            </a:fld>
            <a:endParaRPr lang="en-US"/>
          </a:p>
        </p:txBody>
      </p:sp>
      <p:pic>
        <p:nvPicPr>
          <p:cNvPr id="5" name="image2.png">
            <a:extLst>
              <a:ext uri="{FF2B5EF4-FFF2-40B4-BE49-F238E27FC236}">
                <a16:creationId xmlns:a16="http://schemas.microsoft.com/office/drawing/2014/main" id="{CF485485-3EA8-93E7-F6FD-D7208BD382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9321"/>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C0582BB0-9466-D1AE-9603-071E112537D1}"/>
              </a:ext>
            </a:extLst>
          </p:cNvPr>
          <p:cNvSpPr txBox="1">
            <a:spLocks noChangeArrowheads="1"/>
          </p:cNvSpPr>
          <p:nvPr/>
        </p:nvSpPr>
        <p:spPr bwMode="auto">
          <a:xfrm>
            <a:off x="847725" y="6453170"/>
            <a:ext cx="7686675" cy="254558"/>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50" b="1" dirty="0">
                <a:solidFill>
                  <a:schemeClr val="accent2"/>
                </a:solidFill>
                <a:latin typeface="Arial" charset="0"/>
              </a:rPr>
              <a:t>PARUL INSTITUTE OF TECHNOLOGY, PARUL UNIVERSITY</a:t>
            </a:r>
          </a:p>
        </p:txBody>
      </p:sp>
    </p:spTree>
    <p:extLst>
      <p:ext uri="{BB962C8B-B14F-4D97-AF65-F5344CB8AC3E}">
        <p14:creationId xmlns:p14="http://schemas.microsoft.com/office/powerpoint/2010/main" val="698027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ECE40-734A-5A47-6AC1-4C3762CAF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4DD6B-661B-8DBB-362B-8358F3A0CDF3}"/>
              </a:ext>
            </a:extLst>
          </p:cNvPr>
          <p:cNvSpPr>
            <a:spLocks noGrp="1"/>
          </p:cNvSpPr>
          <p:nvPr>
            <p:ph type="title"/>
          </p:nvPr>
        </p:nvSpPr>
        <p:spPr>
          <a:xfrm>
            <a:off x="674076" y="577704"/>
            <a:ext cx="6589199" cy="1280890"/>
          </a:xfrm>
        </p:spPr>
        <p:txBody>
          <a:bodyPr>
            <a:normAutofit/>
          </a:bodyPr>
          <a:lstStyle/>
          <a:p>
            <a:r>
              <a:rPr lang="en-US" sz="3200" b="1" dirty="0">
                <a:latin typeface="Times New Roman" panose="02020603050405020304" pitchFamily="18" charset="0"/>
                <a:cs typeface="Times New Roman" panose="02020603050405020304" pitchFamily="18" charset="0"/>
              </a:rPr>
              <a:t>Expected Outcome of the Project</a:t>
            </a:r>
            <a:endParaRPr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707CA31-E875-D4F6-8673-E78D70F51758}"/>
              </a:ext>
            </a:extLst>
          </p:cNvPr>
          <p:cNvSpPr>
            <a:spLocks noGrp="1"/>
          </p:cNvSpPr>
          <p:nvPr>
            <p:ph idx="1"/>
          </p:nvPr>
        </p:nvSpPr>
        <p:spPr>
          <a:xfrm>
            <a:off x="423862" y="2080871"/>
            <a:ext cx="8720138" cy="4841439"/>
          </a:xfrm>
        </p:spPr>
        <p:txBody>
          <a:bodyPr>
            <a:noAutofit/>
          </a:bodyPr>
          <a:lstStyle/>
          <a:p>
            <a:r>
              <a:rPr lang="en-US" sz="1600" b="1" dirty="0">
                <a:solidFill>
                  <a:schemeClr val="bg2">
                    <a:lumMod val="10000"/>
                  </a:schemeClr>
                </a:solidFill>
                <a:latin typeface="Times New Roman" panose="02020603050405020304" pitchFamily="18" charset="0"/>
                <a:cs typeface="Times New Roman" panose="02020603050405020304" pitchFamily="18" charset="0"/>
              </a:rPr>
              <a:t>The Outcome of this project aims to create an easy-to-use mobile app that detects health issues in real-time using data from smartwatches. The app will use advanced machine learning to analyze metrics like heart rate and SpO2 levels to spot health risks.</a:t>
            </a:r>
          </a:p>
          <a:p>
            <a:r>
              <a:rPr lang="en-US" sz="1600" b="1" dirty="0">
                <a:solidFill>
                  <a:schemeClr val="bg2">
                    <a:lumMod val="10000"/>
                  </a:schemeClr>
                </a:solidFill>
                <a:latin typeface="Times New Roman" panose="02020603050405020304" pitchFamily="18" charset="0"/>
                <a:cs typeface="Times New Roman" panose="02020603050405020304" pitchFamily="18" charset="0"/>
              </a:rPr>
              <a:t>Key outcomes include:</a:t>
            </a:r>
          </a:p>
          <a:p>
            <a:pPr lvl="1"/>
            <a:r>
              <a:rPr lang="en-US" b="1" dirty="0">
                <a:solidFill>
                  <a:schemeClr val="bg2">
                    <a:lumMod val="10000"/>
                  </a:schemeClr>
                </a:solidFill>
                <a:latin typeface="Times New Roman" panose="02020603050405020304" pitchFamily="18" charset="0"/>
                <a:cs typeface="Times New Roman" panose="02020603050405020304" pitchFamily="18" charset="0"/>
              </a:rPr>
              <a:t>Real-Time Alerts: </a:t>
            </a:r>
          </a:p>
          <a:p>
            <a:pPr lvl="2"/>
            <a:r>
              <a:rPr lang="en-US" sz="1600" b="1" dirty="0">
                <a:solidFill>
                  <a:schemeClr val="bg2">
                    <a:lumMod val="10000"/>
                  </a:schemeClr>
                </a:solidFill>
                <a:latin typeface="Times New Roman" panose="02020603050405020304" pitchFamily="18" charset="0"/>
                <a:cs typeface="Times New Roman" panose="02020603050405020304" pitchFamily="18" charset="0"/>
              </a:rPr>
              <a:t>Users will get immediate notifications for irregularities, allowing for early detection of problems like heart issues and stress.</a:t>
            </a:r>
          </a:p>
          <a:p>
            <a:pPr lvl="1"/>
            <a:r>
              <a:rPr lang="en-US" b="1" dirty="0">
                <a:solidFill>
                  <a:schemeClr val="bg2">
                    <a:lumMod val="10000"/>
                  </a:schemeClr>
                </a:solidFill>
                <a:latin typeface="Times New Roman" panose="02020603050405020304" pitchFamily="18" charset="0"/>
                <a:cs typeface="Times New Roman" panose="02020603050405020304" pitchFamily="18" charset="0"/>
              </a:rPr>
              <a:t>Preventive Insights: </a:t>
            </a:r>
          </a:p>
          <a:p>
            <a:pPr lvl="2"/>
            <a:r>
              <a:rPr lang="en-US" sz="1600" b="1" dirty="0">
                <a:solidFill>
                  <a:schemeClr val="bg2">
                    <a:lumMod val="10000"/>
                  </a:schemeClr>
                </a:solidFill>
                <a:latin typeface="Times New Roman" panose="02020603050405020304" pitchFamily="18" charset="0"/>
                <a:cs typeface="Times New Roman" panose="02020603050405020304" pitchFamily="18" charset="0"/>
              </a:rPr>
              <a:t>The app will provide actionable advice to help users manage their health proactively.</a:t>
            </a:r>
          </a:p>
          <a:p>
            <a:pPr lvl="1"/>
            <a:r>
              <a:rPr lang="en-US" b="1" dirty="0">
                <a:solidFill>
                  <a:schemeClr val="bg2">
                    <a:lumMod val="10000"/>
                  </a:schemeClr>
                </a:solidFill>
                <a:latin typeface="Times New Roman" panose="02020603050405020304" pitchFamily="18" charset="0"/>
                <a:cs typeface="Times New Roman" panose="02020603050405020304" pitchFamily="18" charset="0"/>
              </a:rPr>
              <a:t>Easy Integration: </a:t>
            </a:r>
          </a:p>
          <a:p>
            <a:pPr lvl="2"/>
            <a:r>
              <a:rPr lang="en-US" sz="1600" b="1" dirty="0">
                <a:solidFill>
                  <a:schemeClr val="bg2">
                    <a:lumMod val="10000"/>
                  </a:schemeClr>
                </a:solidFill>
                <a:latin typeface="Times New Roman" panose="02020603050405020304" pitchFamily="18" charset="0"/>
                <a:cs typeface="Times New Roman" panose="02020603050405020304" pitchFamily="18" charset="0"/>
              </a:rPr>
              <a:t>It will work with popular smartwatch brands to ensure wide accessibility.</a:t>
            </a:r>
          </a:p>
          <a:p>
            <a:pPr lvl="1"/>
            <a:r>
              <a:rPr lang="en-US" b="1" dirty="0">
                <a:solidFill>
                  <a:schemeClr val="bg2">
                    <a:lumMod val="10000"/>
                  </a:schemeClr>
                </a:solidFill>
                <a:latin typeface="Times New Roman" panose="02020603050405020304" pitchFamily="18" charset="0"/>
                <a:cs typeface="Times New Roman" panose="02020603050405020304" pitchFamily="18" charset="0"/>
              </a:rPr>
              <a:t>Enhanced Health Outcomes:</a:t>
            </a:r>
          </a:p>
          <a:p>
            <a:pPr lvl="2"/>
            <a:r>
              <a:rPr lang="en-US" sz="1600" b="1" dirty="0">
                <a:solidFill>
                  <a:schemeClr val="bg2">
                    <a:lumMod val="10000"/>
                  </a:schemeClr>
                </a:solidFill>
                <a:latin typeface="Times New Roman" panose="02020603050405020304" pitchFamily="18" charset="0"/>
                <a:cs typeface="Times New Roman" panose="02020603050405020304" pitchFamily="18" charset="0"/>
              </a:rPr>
              <a:t>Early intervention will help reduce delays in diagnosis and improve healthcare quality.</a:t>
            </a:r>
            <a:endParaRPr lang="en-US"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3721DDEB-B1CB-8578-B186-801F05E25FE0}"/>
              </a:ext>
            </a:extLst>
          </p:cNvPr>
          <p:cNvSpPr>
            <a:spLocks noGrp="1"/>
          </p:cNvSpPr>
          <p:nvPr>
            <p:ph type="sldNum" sz="quarter" idx="12"/>
          </p:nvPr>
        </p:nvSpPr>
        <p:spPr/>
        <p:txBody>
          <a:bodyPr/>
          <a:lstStyle/>
          <a:p>
            <a:fld id="{C1FF6DA9-008F-8B48-92A6-B652298478BF}" type="slidenum">
              <a:rPr lang="en-US" smtClean="0"/>
              <a:t>15</a:t>
            </a:fld>
            <a:endParaRPr lang="en-US"/>
          </a:p>
        </p:txBody>
      </p:sp>
      <p:pic>
        <p:nvPicPr>
          <p:cNvPr id="5" name="image2.png">
            <a:extLst>
              <a:ext uri="{FF2B5EF4-FFF2-40B4-BE49-F238E27FC236}">
                <a16:creationId xmlns:a16="http://schemas.microsoft.com/office/drawing/2014/main" id="{5ADD30F2-F6F1-FB5F-1FD3-FD893FCA0C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95" y="54098"/>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B07E9A49-C1F7-22EB-8314-678B736A9D15}"/>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spTree>
    <p:extLst>
      <p:ext uri="{BB962C8B-B14F-4D97-AF65-F5344CB8AC3E}">
        <p14:creationId xmlns:p14="http://schemas.microsoft.com/office/powerpoint/2010/main" val="1582689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8BD1E-AC52-913A-A068-F1A49A329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30906-87F7-8078-831F-6A61AB8E732C}"/>
              </a:ext>
            </a:extLst>
          </p:cNvPr>
          <p:cNvSpPr>
            <a:spLocks noGrp="1"/>
          </p:cNvSpPr>
          <p:nvPr>
            <p:ph type="title"/>
          </p:nvPr>
        </p:nvSpPr>
        <p:spPr>
          <a:xfrm>
            <a:off x="980001" y="679573"/>
            <a:ext cx="6589199" cy="1280890"/>
          </a:xfrm>
        </p:spPr>
        <p:txBody>
          <a:bodyPr/>
          <a:lstStyle/>
          <a:p>
            <a:r>
              <a:rPr lang="en-IN" b="1" dirty="0">
                <a:latin typeface="Times New Roman" panose="02020603050405020304" pitchFamily="18" charset="0"/>
                <a:cs typeface="Times New Roman" panose="02020603050405020304" pitchFamily="18" charset="0"/>
              </a:rPr>
              <a:t>Limitations</a:t>
            </a:r>
            <a:endParaRPr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B8C337-BFE1-901D-E258-57164E4C19A8}"/>
              </a:ext>
            </a:extLst>
          </p:cNvPr>
          <p:cNvSpPr>
            <a:spLocks noGrp="1"/>
          </p:cNvSpPr>
          <p:nvPr>
            <p:ph idx="1"/>
          </p:nvPr>
        </p:nvSpPr>
        <p:spPr>
          <a:xfrm>
            <a:off x="170130" y="2210854"/>
            <a:ext cx="8591905" cy="4639215"/>
          </a:xfrm>
        </p:spPr>
        <p:txBody>
          <a:bodyPr>
            <a:noAutofit/>
          </a:bodyPr>
          <a:lstStyle/>
          <a:p>
            <a:pPr lvl="1">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Data Privacy and Security Concerns: </a:t>
            </a:r>
          </a:p>
          <a:p>
            <a:pPr lvl="2">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Handling sensitive health data from smartwatches raises issues with following rules like GDPR and HIPAA. If data breaches occur, they can damage user trust and lead to misuse of personal information.</a:t>
            </a:r>
          </a:p>
          <a:p>
            <a:pPr lvl="1">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Potential for False Positives or Negatives: </a:t>
            </a:r>
          </a:p>
          <a:p>
            <a:pPr lvl="2">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Machine learning models may incorrectly interpret data, causing false alarms or miss detections. This can lead to user anxiety or delays in getting medical treatment.</a:t>
            </a:r>
          </a:p>
          <a:p>
            <a:pPr lvl="1">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Variability in Data Quality Across Smartwatch Brands: </a:t>
            </a:r>
          </a:p>
          <a:p>
            <a:pPr lvl="2">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Different smartwatch brands use various sensors and algorithms, which can affect how consistent and accurate the data is. Standardizing this data is complicated and impacts reliability.</a:t>
            </a:r>
          </a:p>
        </p:txBody>
      </p:sp>
      <p:sp>
        <p:nvSpPr>
          <p:cNvPr id="8" name="Slide Number Placeholder 7">
            <a:extLst>
              <a:ext uri="{FF2B5EF4-FFF2-40B4-BE49-F238E27FC236}">
                <a16:creationId xmlns:a16="http://schemas.microsoft.com/office/drawing/2014/main" id="{DF2D6776-6324-C05B-77E8-7460159831A3}"/>
              </a:ext>
            </a:extLst>
          </p:cNvPr>
          <p:cNvSpPr>
            <a:spLocks noGrp="1"/>
          </p:cNvSpPr>
          <p:nvPr>
            <p:ph type="sldNum" sz="quarter" idx="12"/>
          </p:nvPr>
        </p:nvSpPr>
        <p:spPr/>
        <p:txBody>
          <a:bodyPr/>
          <a:lstStyle/>
          <a:p>
            <a:fld id="{C1FF6DA9-008F-8B48-92A6-B652298478BF}" type="slidenum">
              <a:rPr lang="en-US" smtClean="0"/>
              <a:t>16</a:t>
            </a:fld>
            <a:endParaRPr lang="en-US"/>
          </a:p>
        </p:txBody>
      </p:sp>
      <p:pic>
        <p:nvPicPr>
          <p:cNvPr id="5" name="image2.png">
            <a:extLst>
              <a:ext uri="{FF2B5EF4-FFF2-40B4-BE49-F238E27FC236}">
                <a16:creationId xmlns:a16="http://schemas.microsoft.com/office/drawing/2014/main" id="{A2FDFA27-2C81-8121-824D-984E8C1086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26" y="50675"/>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5843BEB4-FE59-2C33-C0EA-014B88760E11}"/>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spTree>
    <p:extLst>
      <p:ext uri="{BB962C8B-B14F-4D97-AF65-F5344CB8AC3E}">
        <p14:creationId xmlns:p14="http://schemas.microsoft.com/office/powerpoint/2010/main" val="188029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5F67-8F0B-5640-14B6-4CC7A8718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B3B55-1E3C-7E9D-5077-562DCB54EBD5}"/>
              </a:ext>
            </a:extLst>
          </p:cNvPr>
          <p:cNvSpPr>
            <a:spLocks noGrp="1"/>
          </p:cNvSpPr>
          <p:nvPr>
            <p:ph type="title"/>
          </p:nvPr>
        </p:nvSpPr>
        <p:spPr>
          <a:xfrm>
            <a:off x="674076" y="618216"/>
            <a:ext cx="6589199" cy="1280890"/>
          </a:xfrm>
        </p:spPr>
        <p:txBody>
          <a:bodyPr>
            <a:normAutofit/>
          </a:bodyPr>
          <a:lstStyle/>
          <a:p>
            <a:r>
              <a:rPr lang="en-IN" b="1" dirty="0">
                <a:latin typeface="Times New Roman" panose="02020603050405020304" pitchFamily="18" charset="0"/>
                <a:cs typeface="Times New Roman" panose="02020603050405020304" pitchFamily="18" charset="0"/>
              </a:rPr>
              <a:t>Conclusion</a:t>
            </a:r>
            <a:endParaRPr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3D58DE-0D81-C6FF-6C45-02DE13F8A47F}"/>
              </a:ext>
            </a:extLst>
          </p:cNvPr>
          <p:cNvSpPr>
            <a:spLocks noGrp="1"/>
          </p:cNvSpPr>
          <p:nvPr>
            <p:ph idx="1"/>
          </p:nvPr>
        </p:nvSpPr>
        <p:spPr>
          <a:xfrm>
            <a:off x="503847" y="2267195"/>
            <a:ext cx="8136305" cy="3972589"/>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This project showcases the transformative potential of combining mobile application and machine learning to revolutionize healthcare. </a:t>
            </a:r>
          </a:p>
          <a:p>
            <a:r>
              <a:rPr lang="en-US" b="1" dirty="0">
                <a:solidFill>
                  <a:schemeClr val="tx1"/>
                </a:solidFill>
                <a:latin typeface="Times New Roman" panose="02020603050405020304" pitchFamily="18" charset="0"/>
                <a:cs typeface="Times New Roman" panose="02020603050405020304" pitchFamily="18" charset="0"/>
              </a:rPr>
              <a:t>By utilizing application  data for real-time disease detection, it addresses significant gaps in early diagnosis and continuous health monitoring.</a:t>
            </a:r>
          </a:p>
          <a:p>
            <a:r>
              <a:rPr lang="en-US" b="1" dirty="0">
                <a:solidFill>
                  <a:schemeClr val="tx1"/>
                </a:solidFill>
                <a:latin typeface="Times New Roman" panose="02020603050405020304" pitchFamily="18" charset="0"/>
                <a:cs typeface="Times New Roman" panose="02020603050405020304" pitchFamily="18" charset="0"/>
              </a:rPr>
              <a:t>The system empowers users with actionable insights, allowing for timely interventions and promoting a proactive approach to health management.</a:t>
            </a:r>
          </a:p>
          <a:p>
            <a:r>
              <a:rPr lang="en-US" b="1" dirty="0">
                <a:solidFill>
                  <a:schemeClr val="tx1"/>
                </a:solidFill>
                <a:latin typeface="Times New Roman" panose="02020603050405020304" pitchFamily="18" charset="0"/>
                <a:cs typeface="Times New Roman" panose="02020603050405020304" pitchFamily="18" charset="0"/>
              </a:rPr>
              <a:t>This innovation not only enhances accessibility but also connects technology with preventive care, ultimately making healthcare more efficient and user-centered.</a:t>
            </a:r>
          </a:p>
        </p:txBody>
      </p:sp>
      <p:sp>
        <p:nvSpPr>
          <p:cNvPr id="8" name="Slide Number Placeholder 7">
            <a:extLst>
              <a:ext uri="{FF2B5EF4-FFF2-40B4-BE49-F238E27FC236}">
                <a16:creationId xmlns:a16="http://schemas.microsoft.com/office/drawing/2014/main" id="{5B5EFA38-9AD6-98E5-2C9C-7EC26735E49B}"/>
              </a:ext>
            </a:extLst>
          </p:cNvPr>
          <p:cNvSpPr>
            <a:spLocks noGrp="1"/>
          </p:cNvSpPr>
          <p:nvPr>
            <p:ph type="sldNum" sz="quarter" idx="12"/>
          </p:nvPr>
        </p:nvSpPr>
        <p:spPr/>
        <p:txBody>
          <a:bodyPr/>
          <a:lstStyle/>
          <a:p>
            <a:fld id="{C1FF6DA9-008F-8B48-92A6-B652298478BF}" type="slidenum">
              <a:rPr lang="en-US" smtClean="0"/>
              <a:t>17</a:t>
            </a:fld>
            <a:endParaRPr lang="en-US"/>
          </a:p>
        </p:txBody>
      </p:sp>
      <p:sp>
        <p:nvSpPr>
          <p:cNvPr id="6" name="Text Box 13">
            <a:extLst>
              <a:ext uri="{FF2B5EF4-FFF2-40B4-BE49-F238E27FC236}">
                <a16:creationId xmlns:a16="http://schemas.microsoft.com/office/drawing/2014/main" id="{834C297B-F7BA-330E-5800-B0BBD10C0A68}"/>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pic>
        <p:nvPicPr>
          <p:cNvPr id="7" name="image2.png">
            <a:extLst>
              <a:ext uri="{FF2B5EF4-FFF2-40B4-BE49-F238E27FC236}">
                <a16:creationId xmlns:a16="http://schemas.microsoft.com/office/drawing/2014/main" id="{0B877931-60FE-2633-2456-07FBCF10D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26" y="50675"/>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7894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C8680-E680-E52A-2AEF-C1448D31E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D3557-FB8F-3CA0-1A52-E439ED9EADF0}"/>
              </a:ext>
            </a:extLst>
          </p:cNvPr>
          <p:cNvSpPr>
            <a:spLocks noGrp="1"/>
          </p:cNvSpPr>
          <p:nvPr>
            <p:ph type="title"/>
          </p:nvPr>
        </p:nvSpPr>
        <p:spPr>
          <a:xfrm>
            <a:off x="1370110" y="473074"/>
            <a:ext cx="6589199" cy="1280890"/>
          </a:xfrm>
        </p:spPr>
        <p:txBody>
          <a:bodyPr>
            <a:normAutofit/>
          </a:bodyPr>
          <a:lstStyle/>
          <a:p>
            <a:r>
              <a:rPr lang="en-IN" sz="2800" b="1" dirty="0">
                <a:solidFill>
                  <a:schemeClr val="accent2"/>
                </a:solidFill>
                <a:latin typeface="Times New Roman" panose="02020603050405020304" pitchFamily="18" charset="0"/>
                <a:cs typeface="Times New Roman" panose="02020603050405020304" pitchFamily="18" charset="0"/>
              </a:rPr>
              <a:t>Future Works</a:t>
            </a:r>
            <a:endParaRPr sz="2800"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CEE984E-29EB-6271-FD6F-3603078E8242}"/>
              </a:ext>
            </a:extLst>
          </p:cNvPr>
          <p:cNvSpPr>
            <a:spLocks noGrp="1"/>
          </p:cNvSpPr>
          <p:nvPr>
            <p:ph idx="1"/>
          </p:nvPr>
        </p:nvSpPr>
        <p:spPr>
          <a:xfrm>
            <a:off x="572476" y="2076449"/>
            <a:ext cx="8397904" cy="6080579"/>
          </a:xfrm>
        </p:spPr>
        <p:txBody>
          <a:bodyPr>
            <a:noAutofit/>
          </a:bodyPr>
          <a:lstStyle/>
          <a:p>
            <a:r>
              <a:rPr lang="en-US" sz="1400" b="1" dirty="0">
                <a:solidFill>
                  <a:schemeClr val="tx1"/>
                </a:solidFill>
                <a:latin typeface="Times New Roman" panose="02020603050405020304" pitchFamily="18" charset="0"/>
                <a:cs typeface="Times New Roman" panose="02020603050405020304" pitchFamily="18" charset="0"/>
              </a:rPr>
              <a:t>Expanding Detection Capabilities:</a:t>
            </a:r>
          </a:p>
          <a:p>
            <a:pPr lvl="1">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Incorporate the detection of additional diseases, such as neurological disorders and chronic conditions.</a:t>
            </a:r>
          </a:p>
          <a:p>
            <a:r>
              <a:rPr lang="en-US" sz="1400" b="1" dirty="0">
                <a:solidFill>
                  <a:schemeClr val="tx1"/>
                </a:solidFill>
                <a:latin typeface="Times New Roman" panose="02020603050405020304" pitchFamily="18" charset="0"/>
                <a:cs typeface="Times New Roman" panose="02020603050405020304" pitchFamily="18" charset="0"/>
              </a:rPr>
              <a:t>Integrating Advanced AI Models:</a:t>
            </a:r>
          </a:p>
          <a:p>
            <a:pPr lvl="1">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Utilize deep learning and ensemble methods to enhance accuracy and effectively analyze complex patterns in health data.</a:t>
            </a:r>
          </a:p>
          <a:p>
            <a:r>
              <a:rPr lang="en-US" sz="1400" b="1" dirty="0">
                <a:solidFill>
                  <a:schemeClr val="tx1"/>
                </a:solidFill>
                <a:latin typeface="Times New Roman" panose="02020603050405020304" pitchFamily="18" charset="0"/>
                <a:cs typeface="Times New Roman" panose="02020603050405020304" pitchFamily="18" charset="0"/>
              </a:rPr>
              <a:t>Enhancing User Experience:</a:t>
            </a:r>
          </a:p>
          <a:p>
            <a:pPr lvl="1">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Develop mobile and web applications featuring intuitive interfaces, along with seamless integration for smartwatches.</a:t>
            </a:r>
          </a:p>
          <a:p>
            <a:r>
              <a:rPr lang="en-US" sz="1400" b="1" dirty="0">
                <a:solidFill>
                  <a:schemeClr val="tx1"/>
                </a:solidFill>
                <a:latin typeface="Times New Roman" panose="02020603050405020304" pitchFamily="18" charset="0"/>
                <a:cs typeface="Times New Roman" panose="02020603050405020304" pitchFamily="18" charset="0"/>
              </a:rPr>
              <a:t>Strengthening Data Privacy and Security:</a:t>
            </a:r>
          </a:p>
          <a:p>
            <a:pPr lvl="1">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Implement strong encryption methods and ensure compliance with global data protection standards to build user trust.</a:t>
            </a:r>
          </a:p>
          <a:p>
            <a:r>
              <a:rPr lang="en-US" sz="1400" b="1" dirty="0">
                <a:solidFill>
                  <a:schemeClr val="tx1"/>
                </a:solidFill>
                <a:latin typeface="Times New Roman" panose="02020603050405020304" pitchFamily="18" charset="0"/>
                <a:cs typeface="Times New Roman" panose="02020603050405020304" pitchFamily="18" charset="0"/>
              </a:rPr>
              <a:t>Scalability and Interoperability:</a:t>
            </a:r>
          </a:p>
          <a:p>
            <a:pPr lvl="1">
              <a:buFont typeface="Arial" panose="020B0604020202020204" pitchFamily="34" charset="0"/>
              <a:buChar char="•"/>
            </a:pPr>
            <a:r>
              <a:rPr lang="en-US" sz="1400" dirty="0">
                <a:solidFill>
                  <a:schemeClr val="tx1"/>
                </a:solidFill>
                <a:latin typeface="Times New Roman" panose="02020603050405020304" pitchFamily="18" charset="0"/>
                <a:cs typeface="Times New Roman" panose="02020603050405020304" pitchFamily="18" charset="0"/>
              </a:rPr>
              <a:t>Adapt the system for integration with other healthcare platforms and devices to create a connected health ecosystem.</a:t>
            </a:r>
          </a:p>
        </p:txBody>
      </p:sp>
      <p:sp>
        <p:nvSpPr>
          <p:cNvPr id="8" name="Slide Number Placeholder 7">
            <a:extLst>
              <a:ext uri="{FF2B5EF4-FFF2-40B4-BE49-F238E27FC236}">
                <a16:creationId xmlns:a16="http://schemas.microsoft.com/office/drawing/2014/main" id="{DB9BA156-1D28-3E47-2765-4A7376233F86}"/>
              </a:ext>
            </a:extLst>
          </p:cNvPr>
          <p:cNvSpPr>
            <a:spLocks noGrp="1"/>
          </p:cNvSpPr>
          <p:nvPr>
            <p:ph type="sldNum" sz="quarter" idx="12"/>
          </p:nvPr>
        </p:nvSpPr>
        <p:spPr>
          <a:xfrm>
            <a:off x="7577016" y="150588"/>
            <a:ext cx="791308" cy="767687"/>
          </a:xfrm>
        </p:spPr>
        <p:txBody>
          <a:bodyPr/>
          <a:lstStyle/>
          <a:p>
            <a:fld id="{C1FF6DA9-008F-8B48-92A6-B652298478BF}" type="slidenum">
              <a:rPr lang="en-US" sz="2400" smtClean="0"/>
              <a:t>18</a:t>
            </a:fld>
            <a:endParaRPr lang="en-US" sz="2400"/>
          </a:p>
        </p:txBody>
      </p:sp>
      <p:sp>
        <p:nvSpPr>
          <p:cNvPr id="6" name="Text Box 13">
            <a:extLst>
              <a:ext uri="{FF2B5EF4-FFF2-40B4-BE49-F238E27FC236}">
                <a16:creationId xmlns:a16="http://schemas.microsoft.com/office/drawing/2014/main" id="{C2762235-E7F5-A4BF-5F3B-203D2A97D379}"/>
              </a:ext>
            </a:extLst>
          </p:cNvPr>
          <p:cNvSpPr txBox="1">
            <a:spLocks noChangeArrowheads="1"/>
          </p:cNvSpPr>
          <p:nvPr/>
        </p:nvSpPr>
        <p:spPr bwMode="auto">
          <a:xfrm>
            <a:off x="746125" y="6308028"/>
            <a:ext cx="7686675" cy="231475"/>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900" b="1" dirty="0">
                <a:solidFill>
                  <a:schemeClr val="accent2"/>
                </a:solidFill>
                <a:latin typeface="Arial" charset="0"/>
              </a:rPr>
              <a:t>PARUL INSTITUTE OF TECHNOLOGY, PARUL UNIVERSITY</a:t>
            </a:r>
          </a:p>
        </p:txBody>
      </p:sp>
      <p:pic>
        <p:nvPicPr>
          <p:cNvPr id="7" name="image2.png">
            <a:extLst>
              <a:ext uri="{FF2B5EF4-FFF2-40B4-BE49-F238E27FC236}">
                <a16:creationId xmlns:a16="http://schemas.microsoft.com/office/drawing/2014/main" id="{1E2F5AEA-6D8B-3934-DEEF-CF6646CB2F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326" y="-94467"/>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1846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55A4A-CB30-5CD2-64AD-6130236D28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42567-1DAE-DA17-E890-89308AC658F7}"/>
              </a:ext>
            </a:extLst>
          </p:cNvPr>
          <p:cNvSpPr>
            <a:spLocks noGrp="1"/>
          </p:cNvSpPr>
          <p:nvPr>
            <p:ph type="title"/>
          </p:nvPr>
        </p:nvSpPr>
        <p:spPr>
          <a:xfrm>
            <a:off x="847725" y="637880"/>
            <a:ext cx="6589199" cy="1280890"/>
          </a:xfrm>
        </p:spPr>
        <p:txBody>
          <a:bodyPr>
            <a:normAutofit/>
          </a:bodyPr>
          <a:lstStyle/>
          <a:p>
            <a:r>
              <a:rPr lang="en-IN" b="1" dirty="0">
                <a:solidFill>
                  <a:schemeClr val="bg1">
                    <a:lumMod val="85000"/>
                  </a:schemeClr>
                </a:solidFill>
                <a:latin typeface="Times New Roman" panose="02020603050405020304" pitchFamily="18" charset="0"/>
                <a:cs typeface="Times New Roman" panose="02020603050405020304" pitchFamily="18" charset="0"/>
              </a:rPr>
              <a:t>References</a:t>
            </a:r>
            <a:endParaRPr b="1" dirty="0">
              <a:solidFill>
                <a:schemeClr val="bg1">
                  <a:lumMod val="85000"/>
                </a:schemeClr>
              </a:solidFill>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C0487684-E1F6-9AA7-C121-823BEC519E9D}"/>
              </a:ext>
            </a:extLst>
          </p:cNvPr>
          <p:cNvSpPr>
            <a:spLocks noGrp="1" noChangeArrowheads="1"/>
          </p:cNvSpPr>
          <p:nvPr>
            <p:ph idx="1"/>
          </p:nvPr>
        </p:nvSpPr>
        <p:spPr bwMode="auto">
          <a:xfrm>
            <a:off x="957944" y="2087959"/>
            <a:ext cx="916578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Chollet, F. (2018).</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with Python</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Manning Publications.</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(Useful for understanding deep learning concepts and applying them in mobile apps.)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Zhang, Y., &amp; Zheng, Y. (2020).</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 Intelligence in Healthcare</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Springer.</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(Relevant for developing healthcare-related apps with AI integration.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Kelleher, J. D., Mac Carthy, M., &amp; </a:t>
            </a:r>
            <a:r>
              <a:rPr kumimoji="0" lang="en-US" altLang="en-US" sz="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Korvir</a:t>
            </a: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(2015).</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Fundamentals of Machine Learning for Predictive Data Analytics</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MIT Press.</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 foundation for implementing machine learning algorithms in apps.)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Kingma</a:t>
            </a: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 P., &amp; Ba, J. (2015).</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Adam: A Method for Stochastic Optimization</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arXiv</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preprint arXiv:1412.6980.</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(Important for understanding optimization techniques used in app-based AI models.)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TensorFlow Lite Documentation.</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(https://www.tensorflow.org/lite)</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mobile version of TensorFlow, designed for deploying machine learning models on mobile devices.)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Mobile Documentation.</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(https://pytorch.org/mobile)</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integrating </a:t>
            </a:r>
            <a:r>
              <a:rPr kumimoji="0" lang="en-US" altLang="en-US" sz="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 into mobile applications.)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Wang, Y., &amp; Zhang, J. (2021).</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Mobile App Development</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Springer.</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(Focuses on the integration of AI in mobile app development.)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Raschka</a:t>
            </a: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 (2015).</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Machine Learning</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Packt</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Publishing.</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insights into implementing machine learning models that can be used in mobile apps.)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Google Developers. (2020).</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 Kit for Firebase</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(https://developers.google.com/ml-kit)</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mobile SDK that brings Google's machine learning expertise to Android and iOS apps.)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Keras</a:t>
            </a: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Documentation.</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https://keras.io/</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Keras</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high-level neural networks API that works well for integrating machine learning into mobile apps.)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Bishop, C. M. (2006).</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Pattern Recognition and Machine Learning</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Springer.</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implementing machine learning algorithms that can be deployed in apps.)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Sze, V., Chen, Y., &amp; Yang, T. (2017).</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Processing of Deep Neural Networks: A Tutorial and Survey</a:t>
            </a: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Foundations and Trends® in Electronic Design Automation.</a:t>
            </a:r>
            <a:b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techniques for optimizing deep learning models for mobile devices.)</a:t>
            </a:r>
          </a:p>
        </p:txBody>
      </p:sp>
      <p:sp>
        <p:nvSpPr>
          <p:cNvPr id="7" name="Slide Number Placeholder 6">
            <a:extLst>
              <a:ext uri="{FF2B5EF4-FFF2-40B4-BE49-F238E27FC236}">
                <a16:creationId xmlns:a16="http://schemas.microsoft.com/office/drawing/2014/main" id="{F3636D54-FF71-7F6C-0728-89C86510FD4D}"/>
              </a:ext>
            </a:extLst>
          </p:cNvPr>
          <p:cNvSpPr>
            <a:spLocks noGrp="1"/>
          </p:cNvSpPr>
          <p:nvPr>
            <p:ph type="sldNum" sz="quarter" idx="12"/>
          </p:nvPr>
        </p:nvSpPr>
        <p:spPr/>
        <p:txBody>
          <a:bodyPr/>
          <a:lstStyle/>
          <a:p>
            <a:fld id="{C1FF6DA9-008F-8B48-92A6-B652298478BF}" type="slidenum">
              <a:rPr lang="en-US" smtClean="0"/>
              <a:t>19</a:t>
            </a:fld>
            <a:endParaRPr lang="en-US" dirty="0"/>
          </a:p>
        </p:txBody>
      </p:sp>
      <p:sp>
        <p:nvSpPr>
          <p:cNvPr id="6" name="Text Box 13">
            <a:extLst>
              <a:ext uri="{FF2B5EF4-FFF2-40B4-BE49-F238E27FC236}">
                <a16:creationId xmlns:a16="http://schemas.microsoft.com/office/drawing/2014/main" id="{F5F8C796-9343-1678-0361-EEA471342A89}"/>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pic>
        <p:nvPicPr>
          <p:cNvPr id="3" name="image2.png">
            <a:extLst>
              <a:ext uri="{FF2B5EF4-FFF2-40B4-BE49-F238E27FC236}">
                <a16:creationId xmlns:a16="http://schemas.microsoft.com/office/drawing/2014/main" id="{44B35C51-1AAD-0F4C-9C01-4850507491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26" y="50675"/>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5054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56457A7-694F-938C-49BB-B9F9475AC01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A3E99A9-6E6C-835E-9F7D-89F1DD604F45}"/>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278679" y="1446254"/>
            <a:ext cx="4666762" cy="5371812"/>
          </a:xfrm>
          <a:prstGeom prst="rect">
            <a:avLst/>
          </a:prstGeom>
        </p:spPr>
      </p:pic>
      <p:sp>
        <p:nvSpPr>
          <p:cNvPr id="6" name="Text Box 13">
            <a:extLst>
              <a:ext uri="{FF2B5EF4-FFF2-40B4-BE49-F238E27FC236}">
                <a16:creationId xmlns:a16="http://schemas.microsoft.com/office/drawing/2014/main" id="{A58DA78A-E974-FB4C-CD93-BCBA1A39057E}"/>
              </a:ext>
            </a:extLst>
          </p:cNvPr>
          <p:cNvSpPr txBox="1">
            <a:spLocks noChangeArrowheads="1"/>
          </p:cNvSpPr>
          <p:nvPr/>
        </p:nvSpPr>
        <p:spPr bwMode="auto">
          <a:xfrm>
            <a:off x="20638" y="6435725"/>
            <a:ext cx="7686675" cy="27781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200" b="1">
                <a:solidFill>
                  <a:schemeClr val="bg2"/>
                </a:solidFill>
                <a:latin typeface="Arial" charset="0"/>
              </a:rPr>
              <a:t>                               NAME OF THE INSTITUTE, PARUL UNIVERSITY</a:t>
            </a:r>
          </a:p>
        </p:txBody>
      </p:sp>
      <p:cxnSp>
        <p:nvCxnSpPr>
          <p:cNvPr id="8" name="Straight Connector 7">
            <a:extLst>
              <a:ext uri="{FF2B5EF4-FFF2-40B4-BE49-F238E27FC236}">
                <a16:creationId xmlns:a16="http://schemas.microsoft.com/office/drawing/2014/main" id="{8FAF5B63-2A47-DDF7-8C12-60CCBC64779F}"/>
              </a:ext>
            </a:extLst>
          </p:cNvPr>
          <p:cNvCxnSpPr/>
          <p:nvPr/>
        </p:nvCxnSpPr>
        <p:spPr>
          <a:xfrm>
            <a:off x="0" y="960438"/>
            <a:ext cx="9144000" cy="1587"/>
          </a:xfrm>
          <a:prstGeom prst="line">
            <a:avLst/>
          </a:prstGeom>
        </p:spPr>
        <p:style>
          <a:lnRef idx="1">
            <a:schemeClr val="accent6"/>
          </a:lnRef>
          <a:fillRef idx="0">
            <a:schemeClr val="accent6"/>
          </a:fillRef>
          <a:effectRef idx="0">
            <a:schemeClr val="accent6"/>
          </a:effectRef>
          <a:fontRef idx="minor">
            <a:schemeClr val="tx1"/>
          </a:fontRef>
        </p:style>
      </p:cxnSp>
      <p:sp>
        <p:nvSpPr>
          <p:cNvPr id="11272" name="Slide Number Placeholder 26">
            <a:extLst>
              <a:ext uri="{FF2B5EF4-FFF2-40B4-BE49-F238E27FC236}">
                <a16:creationId xmlns:a16="http://schemas.microsoft.com/office/drawing/2014/main" id="{3F3E289F-EC8D-E548-5D9D-6AE5254F24C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B95D878-4415-40B9-8188-76B303FD4C57}" type="slidenum">
              <a:rPr lang="en-US" altLang="en-US" sz="1200">
                <a:solidFill>
                  <a:schemeClr val="bg1"/>
                </a:solidFill>
                <a:latin typeface="Arial" panose="020B0604020202020204" pitchFamily="34" charset="0"/>
              </a:rPr>
              <a:pPr fontAlgn="base">
                <a:lnSpc>
                  <a:spcPct val="100000"/>
                </a:lnSpc>
                <a:spcBef>
                  <a:spcPct val="0"/>
                </a:spcBef>
                <a:spcAft>
                  <a:spcPct val="0"/>
                </a:spcAft>
                <a:buFontTx/>
                <a:buNone/>
              </a:pPr>
              <a:t>20</a:t>
            </a:fld>
            <a:endParaRPr lang="en-US" altLang="en-US" sz="1200">
              <a:solidFill>
                <a:schemeClr val="bg1"/>
              </a:solidFill>
              <a:latin typeface="Arial" panose="020B0604020202020204" pitchFamily="34" charset="0"/>
            </a:endParaRPr>
          </a:p>
        </p:txBody>
      </p:sp>
      <p:sp>
        <p:nvSpPr>
          <p:cNvPr id="2" name="TextBox 1">
            <a:extLst>
              <a:ext uri="{FF2B5EF4-FFF2-40B4-BE49-F238E27FC236}">
                <a16:creationId xmlns:a16="http://schemas.microsoft.com/office/drawing/2014/main" id="{39343F88-2E62-AE49-A42E-7997ECBC2EA8}"/>
              </a:ext>
            </a:extLst>
          </p:cNvPr>
          <p:cNvSpPr txBox="1"/>
          <p:nvPr/>
        </p:nvSpPr>
        <p:spPr>
          <a:xfrm>
            <a:off x="2054702" y="1316079"/>
            <a:ext cx="8599491" cy="3301481"/>
          </a:xfrm>
          <a:prstGeom prst="rect">
            <a:avLst/>
          </a:prstGeom>
          <a:noFill/>
        </p:spPr>
        <p:txBody>
          <a:bodyPr wrap="square" rtlCol="0">
            <a:spAutoFit/>
          </a:bodyPr>
          <a:lstStyle/>
          <a:p>
            <a:pPr algn="ctr">
              <a:lnSpc>
                <a:spcPct val="150000"/>
              </a:lnSpc>
            </a:pPr>
            <a:r>
              <a:rPr lang="en-US" sz="4800" dirty="0">
                <a:solidFill>
                  <a:srgbClr val="002060"/>
                </a:solidFill>
                <a:latin typeface="Arial Black" panose="020B0A04020102020204" pitchFamily="34" charset="0"/>
              </a:rPr>
              <a:t>Thank You </a:t>
            </a:r>
          </a:p>
          <a:p>
            <a:pPr algn="ctr">
              <a:lnSpc>
                <a:spcPct val="150000"/>
              </a:lnSpc>
            </a:pPr>
            <a:r>
              <a:rPr lang="en-US" sz="4800" dirty="0">
                <a:solidFill>
                  <a:srgbClr val="002060"/>
                </a:solidFill>
                <a:latin typeface="Arial Black" panose="020B0A04020102020204" pitchFamily="34" charset="0"/>
              </a:rPr>
              <a:t>&amp; </a:t>
            </a:r>
          </a:p>
          <a:p>
            <a:pPr algn="ctr">
              <a:lnSpc>
                <a:spcPct val="150000"/>
              </a:lnSpc>
            </a:pPr>
            <a:r>
              <a:rPr lang="en-US" sz="4800" dirty="0">
                <a:solidFill>
                  <a:srgbClr val="002060"/>
                </a:solidFill>
                <a:latin typeface="Arial Black" panose="020B0A04020102020204" pitchFamily="34" charset="0"/>
              </a:rPr>
              <a:t>Any Queries!!</a:t>
            </a:r>
            <a:endParaRPr lang="en-IN" sz="4800" dirty="0">
              <a:solidFill>
                <a:srgbClr val="002060"/>
              </a:solidFill>
              <a:latin typeface="Arial Black" panose="020B0A04020102020204" pitchFamily="34" charset="0"/>
            </a:endParaRPr>
          </a:p>
        </p:txBody>
      </p:sp>
      <p:sp>
        <p:nvSpPr>
          <p:cNvPr id="3" name="Text Box 13">
            <a:extLst>
              <a:ext uri="{FF2B5EF4-FFF2-40B4-BE49-F238E27FC236}">
                <a16:creationId xmlns:a16="http://schemas.microsoft.com/office/drawing/2014/main" id="{359FF6AB-CF88-FCD0-968C-9098E40A5C6A}"/>
              </a:ext>
            </a:extLst>
          </p:cNvPr>
          <p:cNvSpPr txBox="1">
            <a:spLocks noChangeArrowheads="1"/>
          </p:cNvSpPr>
          <p:nvPr/>
        </p:nvSpPr>
        <p:spPr bwMode="auto">
          <a:xfrm>
            <a:off x="847725" y="6453170"/>
            <a:ext cx="7686675" cy="246863"/>
          </a:xfrm>
          <a:prstGeom prst="rect">
            <a:avLst/>
          </a:prstGeom>
          <a:noFill/>
          <a:ln w="9525">
            <a:noFill/>
            <a:miter lim="800000"/>
            <a:headEnd/>
            <a:tailEnd/>
          </a:ln>
          <a:effectLst>
            <a:prstShdw prst="shdw17" dist="17961" dir="2700000">
              <a:schemeClr val="folHlink">
                <a:gamma/>
                <a:shade val="60000"/>
                <a:invGamma/>
              </a:schemeClr>
            </a:prstShdw>
          </a:effectLst>
        </p:spPr>
        <p:txBody>
          <a:bodyPr lIns="92075" tIns="46038" rIns="92075" bIns="46038">
            <a:spAutoFit/>
          </a:bodyPr>
          <a:lstStyle/>
          <a:p>
            <a:pPr algn="ctr" defTabSz="1744663" eaLnBrk="1" fontAlgn="auto" hangingPunct="1">
              <a:spcBef>
                <a:spcPct val="50000"/>
              </a:spcBef>
              <a:spcAft>
                <a:spcPts val="0"/>
              </a:spcAft>
              <a:defRPr/>
            </a:pPr>
            <a:r>
              <a:rPr lang="en-US" sz="1000" b="1" dirty="0">
                <a:solidFill>
                  <a:schemeClr val="accent2"/>
                </a:solidFill>
                <a:latin typeface="Arial" charset="0"/>
              </a:rPr>
              <a:t>PARUL INSTITUTE OF TECHNOLOGY, PARUL UNIVERSITY</a:t>
            </a:r>
          </a:p>
        </p:txBody>
      </p:sp>
      <p:pic>
        <p:nvPicPr>
          <p:cNvPr id="5" name="image2.png">
            <a:extLst>
              <a:ext uri="{FF2B5EF4-FFF2-40B4-BE49-F238E27FC236}">
                <a16:creationId xmlns:a16="http://schemas.microsoft.com/office/drawing/2014/main" id="{D1DCBEA4-5EE9-C21D-0B9B-18BE69C4BD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26" y="50675"/>
            <a:ext cx="11731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6172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7A107C9-FC8D-40F1-A629-CAC6AFD633B6}">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Ion Boardroom</Template>
  <TotalTime>688</TotalTime>
  <Words>1816</Words>
  <Application>Microsoft Office PowerPoint</Application>
  <PresentationFormat>On-screen Show (4:3)</PresentationFormat>
  <Paragraphs>194</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Arial Black</vt:lpstr>
      <vt:lpstr>Bookman Old Style</vt:lpstr>
      <vt:lpstr>Calibri</vt:lpstr>
      <vt:lpstr>Century Gothic</vt:lpstr>
      <vt:lpstr>CIDFont+F2</vt:lpstr>
      <vt:lpstr>Times New Roman</vt:lpstr>
      <vt:lpstr>Wingdings 3</vt:lpstr>
      <vt:lpstr>Ion Boardroom</vt:lpstr>
      <vt:lpstr>PowerPoint Presentation</vt:lpstr>
      <vt:lpstr>Content of Presentation</vt:lpstr>
      <vt:lpstr>Abstract</vt:lpstr>
      <vt:lpstr>Existing System</vt:lpstr>
      <vt:lpstr>PowerPoint Presentation</vt:lpstr>
      <vt:lpstr>Introduction</vt:lpstr>
      <vt:lpstr>Problem Statement</vt:lpstr>
      <vt:lpstr>Literature Review</vt:lpstr>
      <vt:lpstr>Proposed Methodology</vt:lpstr>
      <vt:lpstr>Project Modules</vt:lpstr>
      <vt:lpstr>Use Case Diagram</vt:lpstr>
      <vt:lpstr>ER Diagram</vt:lpstr>
      <vt:lpstr>Requirements</vt:lpstr>
      <vt:lpstr>Requirements</vt:lpstr>
      <vt:lpstr>Expected Outcome of the Project</vt:lpstr>
      <vt:lpstr>Limitations</vt:lpstr>
      <vt:lpstr>Conclusion</vt:lpstr>
      <vt:lpstr>Future Works</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baisamapayan</dc:creator>
  <cp:keywords/>
  <dc:description>generated using python-pptx</dc:description>
  <cp:lastModifiedBy>sanjit Pandey</cp:lastModifiedBy>
  <cp:revision>9</cp:revision>
  <dcterms:created xsi:type="dcterms:W3CDTF">2013-01-27T09:14:16Z</dcterms:created>
  <dcterms:modified xsi:type="dcterms:W3CDTF">2025-03-28T08:15:28Z</dcterms:modified>
  <cp:category/>
</cp:coreProperties>
</file>